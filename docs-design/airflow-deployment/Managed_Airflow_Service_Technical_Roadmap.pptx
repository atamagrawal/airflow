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0" y="0"/>
            <a:ext cx="3474720" cy="5143500"/>
          </a:xfrm>
          <a:prstGeom prst="rect">
            <a:avLst/>
          </a:prstGeom>
          <a:solidFill>
            <a:srgbClr val="0D2A45">
              <a:alpha val="7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371600"/>
            <a:ext cx="91440" cy="2286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28016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ROADMAP  ·  CONFIDENTIAL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155448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Managed Apache Airflow Service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85800" y="2578608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0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Architecture, Tenant Isolation Strategy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90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Phased Delivery Plan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A152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446227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0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 ·  EKS  ·  Apache Airflow 2.x / 3.x  ·  Helm  ·  Kubernetes Operator  ·  Multi-Tenant SaaS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132320" y="457200"/>
            <a:ext cx="137160" cy="137160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52360" y="457200"/>
            <a:ext cx="137160" cy="137160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0" y="457200"/>
            <a:ext cx="137160" cy="137160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0" y="777240"/>
            <a:ext cx="137160" cy="137160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52360" y="777240"/>
            <a:ext cx="137160" cy="137160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0" y="777240"/>
            <a:ext cx="137160" cy="137160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Executive Summary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are building and why it matters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building a multi-tenant, managed Apache Airflow service — similar to Astronomer's Astro — hosted on AWS. Customers get a fully provisioned, isolated Airflow environment in under 2 minutes. We manage the infrastructure; they manage their DAGs.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828800"/>
            <a:ext cx="40233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828800"/>
            <a:ext cx="502920" cy="1170432"/>
          </a:xfrm>
          <a:prstGeom prst="rect">
            <a:avLst/>
          </a:prstGeom>
          <a:solidFill>
            <a:srgbClr val="1B4F8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22128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9264" y="192024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969264" y="2231136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 teams spend weeks setting up and maintaining Airflow. Infrastructure management distracts from building pipelines.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0" y="1828800"/>
            <a:ext cx="40233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0" y="1828800"/>
            <a:ext cx="50292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45152" y="22128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175504" y="192024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Solution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175504" y="2231136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fully managed, Kubernetes-native Airflow platform. Click 'Create Environment' → get a production-ready Airflow in 2 minutes.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3154680"/>
            <a:ext cx="40233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154680"/>
            <a:ext cx="502920" cy="11704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" y="35387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69264" y="324612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Differentiation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969264" y="3557016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Namespace-per-tenant isolation on EKS. Dedicated RDS per customer. Git-sync DAG delivery. Scale-to-zero workers. Full observability.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0" y="3154680"/>
            <a:ext cx="40233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0" y="3154680"/>
            <a:ext cx="502920" cy="1170432"/>
          </a:xfrm>
          <a:prstGeom prst="rect">
            <a:avLst/>
          </a:prstGeom>
          <a:solidFill>
            <a:srgbClr val="05966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45152" y="35387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175504" y="324612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Delivery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175504" y="3557016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3-phase roadmap over 9 months: MVP → GA → Enterprise. First customer environment in Month 3.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286000"/>
            <a:ext cx="109728" cy="6400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19456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 — Architecture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274320" y="30632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0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Three-plane design: Control Plane, Data Plane, Observability Plane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Three-Plane Architecture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Modeled after Astronomer Astro — control plane + isolated data plane + observability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8595360" cy="1280160"/>
          </a:xfrm>
          <a:prstGeom prst="rect">
            <a:avLst/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058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PLANE — Centralized SaaS management layer (your infrastructure)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298448"/>
            <a:ext cx="1316736" cy="804672"/>
          </a:xfrm>
          <a:prstGeom prst="rect">
            <a:avLst/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298448"/>
            <a:ext cx="1316736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Dashboard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(React + API Gateway)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783080" y="1298448"/>
            <a:ext cx="1316736" cy="804672"/>
          </a:xfrm>
          <a:prstGeom prst="rect">
            <a:avLst/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83080" y="1298448"/>
            <a:ext cx="1316736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Provisioning API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(REST — create/delete)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200400" y="1298448"/>
            <a:ext cx="1316736" cy="804672"/>
          </a:xfrm>
          <a:prstGeom prst="rect">
            <a:avLst/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1298448"/>
            <a:ext cx="1316736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 RBAC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(Cognito / OIDC)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617720" y="1298448"/>
            <a:ext cx="1316736" cy="804672"/>
          </a:xfrm>
          <a:prstGeom prst="rect">
            <a:avLst/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7720" y="1298448"/>
            <a:ext cx="1316736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&amp; Metering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(usage tracking)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035040" y="1298448"/>
            <a:ext cx="1316736" cy="804672"/>
          </a:xfrm>
          <a:prstGeom prst="rect">
            <a:avLst/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5040" y="1298448"/>
            <a:ext cx="1316736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Controller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(Helm + K8s operator)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7452360" y="1298448"/>
            <a:ext cx="1316736" cy="804672"/>
          </a:xfrm>
          <a:prstGeom prst="rect">
            <a:avLst/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52360" y="1298448"/>
            <a:ext cx="1316736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Manager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(per-tenant creds)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297680" y="2240280"/>
            <a:ext cx="0" cy="201168"/>
          </a:xfrm>
          <a:prstGeom prst="line">
            <a:avLst/>
          </a:prstGeom>
          <a:noFill/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34840" y="228600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 deploy trigger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74320" y="2432304"/>
            <a:ext cx="8595360" cy="1600200"/>
          </a:xfrm>
          <a:prstGeom prst="rect">
            <a:avLst/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2478024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PLANE — EKS cluster: each customer = isolated Kubernetes namespace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3931920" cy="1188720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27432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65F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Tenant A namespace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57200" y="2962656"/>
            <a:ext cx="1170432" cy="384048"/>
          </a:xfrm>
          <a:prstGeom prst="rect">
            <a:avLst/>
          </a:prstGeom>
          <a:solidFill>
            <a:srgbClr val="A7F3D0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2962656"/>
            <a:ext cx="11704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Webserver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1719072" y="2962656"/>
            <a:ext cx="1170432" cy="384048"/>
          </a:xfrm>
          <a:prstGeom prst="rect">
            <a:avLst/>
          </a:prstGeom>
          <a:solidFill>
            <a:srgbClr val="A7F3D0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719072" y="2962656"/>
            <a:ext cx="11704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2980944" y="2962656"/>
            <a:ext cx="1170432" cy="384048"/>
          </a:xfrm>
          <a:prstGeom prst="rect">
            <a:avLst/>
          </a:prstGeom>
          <a:solidFill>
            <a:srgbClr val="A7F3D0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980944" y="2962656"/>
            <a:ext cx="11704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(scale-to-zero)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457200" y="3419856"/>
            <a:ext cx="1170432" cy="384048"/>
          </a:xfrm>
          <a:prstGeom prst="rect">
            <a:avLst/>
          </a:prstGeom>
          <a:solidFill>
            <a:srgbClr val="A7F3D0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3419856"/>
            <a:ext cx="11704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Triggerer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1719072" y="3419856"/>
            <a:ext cx="1170432" cy="384048"/>
          </a:xfrm>
          <a:prstGeom prst="rect">
            <a:avLst/>
          </a:prstGeom>
          <a:solidFill>
            <a:srgbClr val="A7F3D0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719072" y="3419856"/>
            <a:ext cx="11704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Git-sync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(DAGs)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2980944" y="3419856"/>
            <a:ext cx="1170432" cy="384048"/>
          </a:xfrm>
          <a:prstGeom prst="rect">
            <a:avLst/>
          </a:prstGeom>
          <a:solidFill>
            <a:srgbClr val="A7F3D0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980944" y="3419856"/>
            <a:ext cx="11704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(metadata)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4572000" y="2724912"/>
            <a:ext cx="3931920" cy="1188720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63440" y="27432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65F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Tenant B namespace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663440" y="2962656"/>
            <a:ext cx="1170432" cy="384048"/>
          </a:xfrm>
          <a:prstGeom prst="rect">
            <a:avLst/>
          </a:prstGeom>
          <a:solidFill>
            <a:srgbClr val="A7F3D0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63440" y="2962656"/>
            <a:ext cx="11704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Webserver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5925312" y="2962656"/>
            <a:ext cx="1170432" cy="384048"/>
          </a:xfrm>
          <a:prstGeom prst="rect">
            <a:avLst/>
          </a:prstGeom>
          <a:solidFill>
            <a:srgbClr val="A7F3D0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25312" y="2962656"/>
            <a:ext cx="11704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7187184" y="2962656"/>
            <a:ext cx="1170432" cy="384048"/>
          </a:xfrm>
          <a:prstGeom prst="rect">
            <a:avLst/>
          </a:prstGeom>
          <a:solidFill>
            <a:srgbClr val="A7F3D0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187184" y="2962656"/>
            <a:ext cx="11704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(scale-to-zero)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4663440" y="3419856"/>
            <a:ext cx="1170432" cy="384048"/>
          </a:xfrm>
          <a:prstGeom prst="rect">
            <a:avLst/>
          </a:prstGeom>
          <a:solidFill>
            <a:srgbClr val="A7F3D0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663440" y="3419856"/>
            <a:ext cx="11704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Triggerer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5925312" y="3419856"/>
            <a:ext cx="1170432" cy="384048"/>
          </a:xfrm>
          <a:prstGeom prst="rect">
            <a:avLst/>
          </a:prstGeom>
          <a:solidFill>
            <a:srgbClr val="A7F3D0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925312" y="3419856"/>
            <a:ext cx="11704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Git-sync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(DAGs)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7187184" y="3419856"/>
            <a:ext cx="1170432" cy="384048"/>
          </a:xfrm>
          <a:prstGeom prst="rect">
            <a:avLst/>
          </a:prstGeom>
          <a:solidFill>
            <a:srgbClr val="A7F3D0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187184" y="3419856"/>
            <a:ext cx="11704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(metadata)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274320" y="4114800"/>
            <a:ext cx="8595360" cy="749808"/>
          </a:xfrm>
          <a:prstGeom prst="rect">
            <a:avLst/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PLANE — Prometheus · Fluent Bit → S3 · Grafana (per-tenant dashboards) · SNS Alerting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Tenant Isolation Model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Namespace-per-tenant: the best balance of cost efficiency and security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8595360" cy="365760"/>
          </a:xfrm>
          <a:prstGeom prst="rect">
            <a:avLst/>
          </a:prstGeom>
          <a:solidFill>
            <a:srgbClr val="0D1B2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05840"/>
            <a:ext cx="1627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Model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039112" y="1005840"/>
            <a:ext cx="1627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758184" y="1005840"/>
            <a:ext cx="1627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Spin-up Time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477256" y="1005840"/>
            <a:ext cx="1627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196328" y="1005840"/>
            <a:ext cx="1627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1325880"/>
            <a:ext cx="8595360" cy="384048"/>
          </a:xfrm>
          <a:prstGeom prst="rect">
            <a:avLst/>
          </a:prstGeom>
          <a:solidFill>
            <a:srgbClr val="E8F4F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1371600"/>
            <a:ext cx="1627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per tenant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066544" y="1371600"/>
            <a:ext cx="1627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$$$ High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785616" y="1371600"/>
            <a:ext cx="1627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 min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504688" y="1371600"/>
            <a:ext cx="1627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★★★★★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223760" y="1371600"/>
            <a:ext cx="1627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Regulated enterprise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1737360"/>
            <a:ext cx="8595360" cy="384048"/>
          </a:xfrm>
          <a:prstGeom prst="rect">
            <a:avLst/>
          </a:prstGeom>
          <a:solidFill>
            <a:srgbClr val="DFFCE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1737360"/>
            <a:ext cx="54864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" y="1783080"/>
            <a:ext cx="1627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Namespace per tenant ✓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066544" y="1783080"/>
            <a:ext cx="1627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$$ Medium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785616" y="1783080"/>
            <a:ext cx="1627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min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504688" y="1783080"/>
            <a:ext cx="1627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★★★★☆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223760" y="1783080"/>
            <a:ext cx="1627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SaaS workloads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4320" y="2148840"/>
            <a:ext cx="8595360" cy="384048"/>
          </a:xfrm>
          <a:prstGeom prst="rect">
            <a:avLst/>
          </a:prstGeom>
          <a:solidFill>
            <a:srgbClr val="F8F8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" y="2194560"/>
            <a:ext cx="1627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namespace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066544" y="2194560"/>
            <a:ext cx="1627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 Low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785616" y="2194560"/>
            <a:ext cx="1627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&lt;30 sec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504688" y="2194560"/>
            <a:ext cx="1627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★★☆☆☆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223760" y="2194560"/>
            <a:ext cx="1627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Dev/test only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05840" y="1755648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approach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274320" y="26334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Isolation Controls Applied per Namespace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74320" y="2944368"/>
            <a:ext cx="274320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74320" y="2944368"/>
            <a:ext cx="54864" cy="877824"/>
          </a:xfrm>
          <a:prstGeom prst="rect">
            <a:avLst/>
          </a:prstGeom>
          <a:solidFill>
            <a:srgbClr val="1B4F8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20624" y="3017520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Kubernetes NetworkPolicy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20624" y="3255264"/>
            <a:ext cx="248716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Deny-all default rule. Pods in one namespace cannot talk to pods in another. Enforced via Calico/Cilium CNI plugin.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145536" y="2944368"/>
            <a:ext cx="274320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145536" y="2944368"/>
            <a:ext cx="54864" cy="877824"/>
          </a:xfrm>
          <a:prstGeom prst="rect">
            <a:avLst/>
          </a:prstGeom>
          <a:solidFill>
            <a:srgbClr val="0D948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91840" y="3017520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ResourceQuota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3291840" y="3255264"/>
            <a:ext cx="248716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CPU, memory, and pod count limits per namespace. Prevents a noisy tenant from starving others.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6016752" y="2944368"/>
            <a:ext cx="274320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016752" y="2944368"/>
            <a:ext cx="54864" cy="877824"/>
          </a:xfrm>
          <a:prstGeom prst="rect">
            <a:avLst/>
          </a:prstGeom>
          <a:solidFill>
            <a:srgbClr val="00B4D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163056" y="3017520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RBAC + ServiceAccounts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163056" y="3255264"/>
            <a:ext cx="248716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namespace gets its own ServiceAccount. IAM Roles for Service Accounts (IRSA) scopes AWS API access per tenant.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274320" y="3931920"/>
            <a:ext cx="274320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274320" y="3931920"/>
            <a:ext cx="54864" cy="877824"/>
          </a:xfrm>
          <a:prstGeom prst="rect">
            <a:avLst/>
          </a:prstGeom>
          <a:solidFill>
            <a:srgbClr val="05966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20624" y="4005072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Dedicated RDS Instance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420624" y="4242816"/>
            <a:ext cx="248716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tenant gets their own Postgres RDS. Airflow metadata DB (DAG state, connections, variables) is never shared.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3145536" y="3931920"/>
            <a:ext cx="274320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8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3145536" y="3931920"/>
            <a:ext cx="54864" cy="877824"/>
          </a:xfrm>
          <a:prstGeom prst="rect">
            <a:avLst/>
          </a:prstGeom>
          <a:solidFill>
            <a:srgbClr val="D9770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291840" y="4005072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Secrets Manager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3291840" y="4242816"/>
            <a:ext cx="248716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Per-tenant secret paths in AWS Secrets Manager. The ExternalSecrets operator syncs secrets into each namespace only.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6016752" y="3931920"/>
            <a:ext cx="274320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8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6016752" y="3931920"/>
            <a:ext cx="54864" cy="877824"/>
          </a:xfrm>
          <a:prstGeom prst="rect">
            <a:avLst/>
          </a:prstGeom>
          <a:solidFill>
            <a:srgbClr val="7C3AE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163056" y="4005072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Pod Security Standards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6163056" y="4242816"/>
            <a:ext cx="248716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 run non-privileged by default. Host network and privileged mode are blocked via admission webhooks.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Tenant Provisioning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when a customer clicks 'Create Environment' — end-to-end in ~2 minutes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201168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51560"/>
            <a:ext cx="2011680" cy="640080"/>
          </a:xfrm>
          <a:prstGeom prst="rect">
            <a:avLst/>
          </a:prstGeom>
          <a:solidFill>
            <a:srgbClr val="6366F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0972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68680" y="109728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 Request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1371600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/environments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38912" y="1819656"/>
            <a:ext cx="73152" cy="73152"/>
          </a:xfrm>
          <a:prstGeom prst="ellipse">
            <a:avLst/>
          </a:prstGeom>
          <a:solidFill>
            <a:srgbClr val="6366F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1773936"/>
            <a:ext cx="1627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check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38912" y="2258568"/>
            <a:ext cx="73152" cy="73152"/>
          </a:xfrm>
          <a:prstGeom prst="ellipse">
            <a:avLst/>
          </a:prstGeom>
          <a:solidFill>
            <a:srgbClr val="6366F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212848"/>
            <a:ext cx="1627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limits check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38912" y="2697480"/>
            <a:ext cx="73152" cy="73152"/>
          </a:xfrm>
          <a:prstGeom prst="ellipse">
            <a:avLst/>
          </a:prstGeom>
          <a:solidFill>
            <a:srgbClr val="6366F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651760"/>
            <a:ext cx="1627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record created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38912" y="3136392"/>
            <a:ext cx="73152" cy="73152"/>
          </a:xfrm>
          <a:prstGeom prst="ellipse">
            <a:avLst/>
          </a:prstGeom>
          <a:solidFill>
            <a:srgbClr val="6366F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3090672"/>
            <a:ext cx="1627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job queued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31520" y="3547872"/>
            <a:ext cx="1097280" cy="256032"/>
          </a:xfrm>
          <a:prstGeom prst="roundRect">
            <a:avLst>
              <a:gd name="adj" fmla="val 17857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354787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359152" y="1965960"/>
            <a:ext cx="109728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450592" y="1051560"/>
            <a:ext cx="201168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450592" y="1051560"/>
            <a:ext cx="2011680" cy="640080"/>
          </a:xfrm>
          <a:prstGeom prst="rect">
            <a:avLst/>
          </a:prstGeom>
          <a:solidFill>
            <a:srgbClr val="1B4F8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60320" y="10972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3044952" y="109728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AWS Resources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044952" y="1371600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 provisioning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615184" y="1819656"/>
            <a:ext cx="73152" cy="73152"/>
          </a:xfrm>
          <a:prstGeom prst="ellipse">
            <a:avLst/>
          </a:prstGeom>
          <a:solidFill>
            <a:srgbClr val="1B4F8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0" y="1773936"/>
            <a:ext cx="1627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 Postgres created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615184" y="2258568"/>
            <a:ext cx="73152" cy="73152"/>
          </a:xfrm>
          <a:prstGeom prst="ellipse">
            <a:avLst/>
          </a:prstGeom>
          <a:solidFill>
            <a:srgbClr val="1B4F8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0" y="2212848"/>
            <a:ext cx="1627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ECR repo created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615184" y="2697480"/>
            <a:ext cx="73152" cy="73152"/>
          </a:xfrm>
          <a:prstGeom prst="ellipse">
            <a:avLst/>
          </a:prstGeom>
          <a:solidFill>
            <a:srgbClr val="1B4F8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0" y="2651760"/>
            <a:ext cx="1627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Manager entry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615184" y="3136392"/>
            <a:ext cx="73152" cy="73152"/>
          </a:xfrm>
          <a:prstGeom prst="ellipse">
            <a:avLst/>
          </a:prstGeom>
          <a:solidFill>
            <a:srgbClr val="1B4F8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0" y="3090672"/>
            <a:ext cx="1627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Route53 DNS entry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907792" y="3547872"/>
            <a:ext cx="1097280" cy="256032"/>
          </a:xfrm>
          <a:prstGeom prst="roundRect">
            <a:avLst>
              <a:gd name="adj" fmla="val 17857"/>
            </a:avLst>
          </a:prstGeom>
          <a:solidFill>
            <a:srgbClr val="1B4F8A">
              <a:alpha val="15000"/>
            </a:srgbClr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907792" y="354787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~45s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535424" y="1965960"/>
            <a:ext cx="109728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626864" y="1051560"/>
            <a:ext cx="201168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626864" y="1051560"/>
            <a:ext cx="2011680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36592" y="10972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5221224" y="109728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Helm Install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221224" y="1371600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objects created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791456" y="1819656"/>
            <a:ext cx="73152" cy="7315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19472" y="1773936"/>
            <a:ext cx="1627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Namespace created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791456" y="2258568"/>
            <a:ext cx="73152" cy="7315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919472" y="2212848"/>
            <a:ext cx="1627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ResourceQuota applied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791456" y="2697480"/>
            <a:ext cx="73152" cy="7315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19472" y="2651760"/>
            <a:ext cx="1627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NetworkPolicy applied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791456" y="3136392"/>
            <a:ext cx="73152" cy="7315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919472" y="3090672"/>
            <a:ext cx="1627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 chart deployed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5084064" y="3547872"/>
            <a:ext cx="1097280" cy="256032"/>
          </a:xfrm>
          <a:prstGeom prst="roundRect">
            <a:avLst>
              <a:gd name="adj" fmla="val 17857"/>
            </a:avLst>
          </a:prstGeom>
          <a:solidFill>
            <a:srgbClr val="0D9488">
              <a:alpha val="1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084064" y="354787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~60s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6711696" y="1965960"/>
            <a:ext cx="109728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803136" y="1051560"/>
            <a:ext cx="201168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8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6803136" y="1051560"/>
            <a:ext cx="2011680" cy="640080"/>
          </a:xfrm>
          <a:prstGeom prst="rect">
            <a:avLst/>
          </a:prstGeom>
          <a:solidFill>
            <a:srgbClr val="05966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912864" y="10972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2200" dirty="0"/>
          </a:p>
        </p:txBody>
      </p:sp>
      <p:sp>
        <p:nvSpPr>
          <p:cNvPr id="56" name="Text 54"/>
          <p:cNvSpPr/>
          <p:nvPr/>
        </p:nvSpPr>
        <p:spPr>
          <a:xfrm>
            <a:off x="7397496" y="109728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Readiness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7397496" y="1371600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live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6967728" y="1819656"/>
            <a:ext cx="73152" cy="7315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095744" y="1773936"/>
            <a:ext cx="1627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Pods health-checked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6967728" y="2258568"/>
            <a:ext cx="73152" cy="7315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095744" y="2212848"/>
            <a:ext cx="1627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Ingress + TLS ready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6967728" y="2697480"/>
            <a:ext cx="73152" cy="7315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095744" y="2651760"/>
            <a:ext cx="1627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org created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6967728" y="3136392"/>
            <a:ext cx="73152" cy="7315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095744" y="3090672"/>
            <a:ext cx="1627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+ email sent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7260336" y="3547872"/>
            <a:ext cx="1097280" cy="256032"/>
          </a:xfrm>
          <a:prstGeom prst="roundRect">
            <a:avLst>
              <a:gd name="adj" fmla="val 17857"/>
            </a:avLst>
          </a:prstGeom>
          <a:solidFill>
            <a:srgbClr val="059669">
              <a:alpha val="15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260336" y="354787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~15s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274320" y="4041648"/>
            <a:ext cx="8595360" cy="804672"/>
          </a:xfrm>
          <a:prstGeom prst="rect">
            <a:avLst/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48640" y="42062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Total provisioning time: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2834640" y="4187952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~2 minutes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4572000" y="4187952"/>
            <a:ext cx="4160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Teardown reverses all steps: drain workers → delete Helm release → drop RDS → remove namespace → close billing record  |  Hibernation: scale-to-zero preserving namespace and DB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286000"/>
            <a:ext cx="109728" cy="6400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19456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 — AWS Infrastructure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274320" y="30632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0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 · RDS · ECR · Secrets Manager · Route 53 · Karpenter · VPC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AWS Service Stack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AWS service used — what it does, why we chose it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256032" y="987552"/>
            <a:ext cx="54864" cy="1746504"/>
          </a:xfrm>
          <a:prstGeom prst="rect">
            <a:avLst/>
          </a:prstGeom>
          <a:solidFill>
            <a:srgbClr val="1B4F8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10332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&amp; Orchestration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84048" y="1261872"/>
            <a:ext cx="84124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307592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4F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Amazon EKS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240280" y="1307592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Kubernetes — runs all Airflow workloads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120640" y="130759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Best-in-class K8s managed service. Integrates natively with IAM (IRSA), Karpenter, and VPC CNI.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84048" y="1828800"/>
            <a:ext cx="8412480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87452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4F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Karpenter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240280" y="187452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auto-provisioner for EKS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120640" y="18745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Provisions EC2 nodes in &lt;30s. Consolidates and terminates underutilized nodes automatically. Replaces Cluster Autoscaler.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84048" y="2395728"/>
            <a:ext cx="84124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441448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4F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AWS Fargate (optional)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240280" y="2441448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pods for control plane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120640" y="244144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 node management for the control plane components. Always-on but minimal compute.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56032" y="3072384"/>
            <a:ext cx="54864" cy="2313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" y="311810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Secrets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84048" y="3346704"/>
            <a:ext cx="84124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392424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Amazon RDS (Postgres)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240280" y="3392424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 metadata DB — one per tenant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120640" y="3392424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db.t3.small (~$30/mo). Multi-AZ for production tenants. Automated backups. Never shared across tenants.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84048" y="3913632"/>
            <a:ext cx="8412480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959352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Amazon S3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240280" y="3959352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 storage, logs, state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120640" y="395935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 bucket per tenant. Airflow logs shipped here. Lifecycle rules auto-expire old logs to Glacier.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84048" y="4480560"/>
            <a:ext cx="84124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452628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AWS Secrets Manager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2240280" y="452628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Per-tenant credentials store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120640" y="45262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 connections, fernet keys, DB passwords stored here. ExternalSecrets Operator syncs into K8s secrets.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84048" y="5047488"/>
            <a:ext cx="8412480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5093208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Amazon ECR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2240280" y="5093208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image registry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120640" y="509320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repo per tenant for custom Python packages/operators. Lifecycle policies auto-prune old images.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256032" y="5724144"/>
            <a:ext cx="54864" cy="23134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84048" y="576986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 &amp; Identity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84048" y="5998464"/>
            <a:ext cx="84124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2920" y="6044184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Amazon VPC + CNI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2240280" y="6044184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isolation foundation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120640" y="6044184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EKS node gets VPC IPs. Combined with K8s NetworkPolicies (Calico) for complete namespace isolation.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384048" y="6565392"/>
            <a:ext cx="8412480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2920" y="6611112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AWS ALB Ingress Controller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2240280" y="6611112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routing per tenant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120640" y="661111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Wildcard cert *.yourdomain.com. Routes &lt;tenant&gt;.yourdomain.com → correct namespace. SSL termination at ALB.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384048" y="7132320"/>
            <a:ext cx="84124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02920" y="717804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Amazon Route 53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2240280" y="717804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management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120640" y="71780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DNS records created/deleted during tenant provisioning via ExternalDNS controller.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384048" y="7699248"/>
            <a:ext cx="8412480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02920" y="7744968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AWS Cognito / OIDC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2240280" y="7744968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+ IRSA for pod-level IAM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5120640" y="774496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login (Cognito User Pools). IRSA grants pods scoped AWS permissions without long-lived credentials.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384048" y="987552"/>
            <a:ext cx="8412480" cy="274320"/>
          </a:xfrm>
          <a:prstGeom prst="rect">
            <a:avLst/>
          </a:prstGeom>
          <a:solidFill>
            <a:srgbClr val="0D1B2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02920" y="1005840"/>
            <a:ext cx="1691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2240280" y="1005840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5120640" y="1005840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choice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Helm Chart Strategy &amp; Kubernetes Manifests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gets deployed per tenant — the exact K8s objects created at provisioning time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74320" y="98755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Helm Chart Approach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298448"/>
            <a:ext cx="41148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298448"/>
            <a:ext cx="54864" cy="731520"/>
          </a:xfrm>
          <a:prstGeom prst="rect">
            <a:avLst/>
          </a:prstGeom>
          <a:solidFill>
            <a:srgbClr val="1B4F8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2336" y="1353312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Base: Official Airflow Helm Chart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02336" y="1591056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apache-airflow/airflow (v1.13+). Deploys webserver, scheduler, workers, triggerer, StatsD, git-sync sidecar.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74320" y="2103120"/>
            <a:ext cx="41148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2103120"/>
            <a:ext cx="54864" cy="731520"/>
          </a:xfrm>
          <a:prstGeom prst="rect">
            <a:avLst/>
          </a:prstGeom>
          <a:solidFill>
            <a:srgbClr val="1B4F8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2336" y="2157984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Values Override per Tenant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02336" y="2395728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 values template parameterized with tenantId, resourceSize, executorType, gitRepo, fernetKey, dbConnectionString.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74320" y="2907792"/>
            <a:ext cx="41148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907792"/>
            <a:ext cx="54864" cy="731520"/>
          </a:xfrm>
          <a:prstGeom prst="rect">
            <a:avLst/>
          </a:prstGeom>
          <a:solidFill>
            <a:srgbClr val="1B4F8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2336" y="2962656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 Runtime Image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02336" y="3200400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astronomer-runtime base OR standard apache/airflow. Pushed to tenant's ECR repo. Includes extra providers + Python deps.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74320" y="3712464"/>
            <a:ext cx="41148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3712464"/>
            <a:ext cx="54864" cy="731520"/>
          </a:xfrm>
          <a:prstGeom prst="rect">
            <a:avLst/>
          </a:prstGeom>
          <a:solidFill>
            <a:srgbClr val="1B4F8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2336" y="3767328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GitOps via ArgoCD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02336" y="4005072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stored in Git. ArgoCD Application per tenant. Changes to Git auto-sync to cluster. Full audit trail of all deployments.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754880" y="98755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K8s Objects Created per Tenant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54880" y="1298448"/>
            <a:ext cx="41148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0" y="1298448"/>
            <a:ext cx="54864" cy="512064"/>
          </a:xfrm>
          <a:prstGeom prst="rect">
            <a:avLst/>
          </a:prstGeom>
          <a:solidFill>
            <a:srgbClr val="0D948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82896" y="133502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Namespace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82896" y="155448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tenant-{id} — all objects scoped here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754880" y="1883664"/>
            <a:ext cx="41148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54880" y="1883664"/>
            <a:ext cx="54864" cy="512064"/>
          </a:xfrm>
          <a:prstGeom prst="rect">
            <a:avLst/>
          </a:prstGeom>
          <a:solidFill>
            <a:srgbClr val="0D948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82896" y="192024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ResourceQuota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882896" y="2139696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CPU: 4 cores, Memory: 8Gi, Pods: 20 (configurable per plan tier)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754880" y="2468880"/>
            <a:ext cx="41148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54880" y="2468880"/>
            <a:ext cx="54864" cy="512064"/>
          </a:xfrm>
          <a:prstGeom prst="rect">
            <a:avLst/>
          </a:prstGeom>
          <a:solidFill>
            <a:srgbClr val="1B4F8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82896" y="2505456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NetworkPolicy (deny-all)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882896" y="272491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Default: deny all ingress/egress. Allow rules added for Airflow internal traffic only.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754880" y="3054096"/>
            <a:ext cx="41148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54880" y="3054096"/>
            <a:ext cx="54864" cy="512064"/>
          </a:xfrm>
          <a:prstGeom prst="rect">
            <a:avLst/>
          </a:prstGeom>
          <a:solidFill>
            <a:srgbClr val="1B4F8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82896" y="309067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ServiceAccount + IRSA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82896" y="3310128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 to IAM Role scoped to this tenant's S3 bucket, RDS, Secrets Manager paths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754880" y="3639312"/>
            <a:ext cx="41148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754880" y="3639312"/>
            <a:ext cx="54864" cy="5120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82896" y="367588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ExternalSecret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882896" y="3895344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fernet key, DB password, connections from Secrets Manager into K8s Secret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754880" y="4224528"/>
            <a:ext cx="41148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754880" y="4224528"/>
            <a:ext cx="54864" cy="5120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82896" y="426110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Ingress (ALB)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882896" y="448056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&lt;tenantId&gt;.platform.com → airflow-webserver service in this namespace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4754880" y="475488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Resource Sizing by Plan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286000"/>
            <a:ext cx="109728" cy="6400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19456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 — Control Plane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274320" y="30632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0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· Provisioning API · Auth · Billing · GitOps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Control Plane — Component Breakdown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a customer touches flows through the control plane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788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2788920" cy="475488"/>
          </a:xfrm>
          <a:prstGeom prst="rect">
            <a:avLst/>
          </a:prstGeom>
          <a:solidFill>
            <a:srgbClr val="6366F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051560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Web Dashboard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84048" y="1280160"/>
            <a:ext cx="2578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C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TypeScript + AWS API Gateway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402336" y="1609344"/>
            <a:ext cx="64008" cy="64008"/>
          </a:xfrm>
          <a:prstGeom prst="ellipse">
            <a:avLst/>
          </a:prstGeom>
          <a:solidFill>
            <a:srgbClr val="6366F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1208" y="1554480"/>
            <a:ext cx="2450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 management (create/delete/hibernate environments)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02336" y="1911096"/>
            <a:ext cx="64008" cy="64008"/>
          </a:xfrm>
          <a:prstGeom prst="ellipse">
            <a:avLst/>
          </a:prstGeom>
          <a:solidFill>
            <a:srgbClr val="6366F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1208" y="1856232"/>
            <a:ext cx="2450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 deployment via drag-and-drop or GitHub integration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02336" y="2212848"/>
            <a:ext cx="64008" cy="64008"/>
          </a:xfrm>
          <a:prstGeom prst="ellipse">
            <a:avLst/>
          </a:prstGeom>
          <a:solidFill>
            <a:srgbClr val="6366F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1208" y="2157984"/>
            <a:ext cx="2450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config (connections, variables, env vars, resource sizing)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02336" y="2514600"/>
            <a:ext cx="64008" cy="64008"/>
          </a:xfrm>
          <a:prstGeom prst="ellipse">
            <a:avLst/>
          </a:prstGeom>
          <a:solidFill>
            <a:srgbClr val="6366F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1208" y="2459736"/>
            <a:ext cx="2450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metrics and billing overview per deployment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172968" y="1005840"/>
            <a:ext cx="2788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172968" y="1005840"/>
            <a:ext cx="2788920" cy="475488"/>
          </a:xfrm>
          <a:prstGeom prst="rect">
            <a:avLst/>
          </a:prstGeom>
          <a:solidFill>
            <a:srgbClr val="1B4F8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82696" y="1051560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Provisioning API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282696" y="1280160"/>
            <a:ext cx="2578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C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— FastAPI / Node.js + EKS operator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3300984" y="1609344"/>
            <a:ext cx="64008" cy="64008"/>
          </a:xfrm>
          <a:prstGeom prst="ellipse">
            <a:avLst/>
          </a:prstGeom>
          <a:solidFill>
            <a:srgbClr val="1B4F8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19856" y="1554480"/>
            <a:ext cx="2450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/environments — triggers full provisioning async job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300984" y="1911096"/>
            <a:ext cx="64008" cy="64008"/>
          </a:xfrm>
          <a:prstGeom prst="ellipse">
            <a:avLst/>
          </a:prstGeom>
          <a:solidFill>
            <a:srgbClr val="1B4F8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19856" y="1856232"/>
            <a:ext cx="2450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/environments/:id — teardown + cleanup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300984" y="2212848"/>
            <a:ext cx="64008" cy="64008"/>
          </a:xfrm>
          <a:prstGeom prst="ellipse">
            <a:avLst/>
          </a:prstGeom>
          <a:solidFill>
            <a:srgbClr val="1B4F8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19856" y="2157984"/>
            <a:ext cx="2450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/environments/:id — scale up/down, change config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300984" y="2514600"/>
            <a:ext cx="64008" cy="64008"/>
          </a:xfrm>
          <a:prstGeom prst="ellipse">
            <a:avLst/>
          </a:prstGeom>
          <a:solidFill>
            <a:srgbClr val="1B4F8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19856" y="2459736"/>
            <a:ext cx="2450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/environments/:id/status — returns pod health, ingress URL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071616" y="1005840"/>
            <a:ext cx="2788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071616" y="1005840"/>
            <a:ext cx="278892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81344" y="1051560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Auth &amp; RBAC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181344" y="1280160"/>
            <a:ext cx="2578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C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Cognito + OIDC + custom roles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6199632" y="1609344"/>
            <a:ext cx="64008" cy="640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18504" y="1554480"/>
            <a:ext cx="2450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login: Cognito User Pools (email/password + MFA)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199632" y="1911096"/>
            <a:ext cx="64008" cy="640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18504" y="1856232"/>
            <a:ext cx="2450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 for enterprise: SAML 2.0 / OIDC federation via Cognito IdP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6199632" y="2212848"/>
            <a:ext cx="64008" cy="640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18504" y="2157984"/>
            <a:ext cx="2450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Roles: Owner, Admin, Editor, Viewer — enforced API-side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199632" y="2514600"/>
            <a:ext cx="64008" cy="640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18504" y="2459736"/>
            <a:ext cx="2450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 RBAC synced on deploy: users auto-provisioned in Airflow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274320" y="2999232"/>
            <a:ext cx="2788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274320" y="2999232"/>
            <a:ext cx="2788920" cy="475488"/>
          </a:xfrm>
          <a:prstGeom prst="rect">
            <a:avLst/>
          </a:prstGeom>
          <a:solidFill>
            <a:srgbClr val="D9770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84048" y="3044952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Billing &amp; Metering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384048" y="3273552"/>
            <a:ext cx="2578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C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Usage-based pricing engine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402336" y="3602736"/>
            <a:ext cx="64008" cy="6400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21208" y="3547872"/>
            <a:ext cx="2450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collected: worker vCPU-hours, task runs, active environments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402336" y="3904488"/>
            <a:ext cx="64008" cy="6400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21208" y="3849624"/>
            <a:ext cx="2450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integration for credit card billing + invoice generation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402336" y="4206240"/>
            <a:ext cx="64008" cy="6400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21208" y="4151376"/>
            <a:ext cx="2450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Per-plan quotas: environments, worker concurrency, DAG count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402336" y="4507992"/>
            <a:ext cx="64008" cy="6400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21208" y="4453128"/>
            <a:ext cx="2450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Overage alerts: webhook + email when 80% of quota reached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3172968" y="2999232"/>
            <a:ext cx="2788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8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3172968" y="2999232"/>
            <a:ext cx="2788920" cy="475488"/>
          </a:xfrm>
          <a:prstGeom prst="rect">
            <a:avLst/>
          </a:prstGeom>
          <a:solidFill>
            <a:srgbClr val="05966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282696" y="3044952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Deployment Controller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3282696" y="3273552"/>
            <a:ext cx="2578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C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Operator (Go) + Helm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3300984" y="3602736"/>
            <a:ext cx="64008" cy="6400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419856" y="3547872"/>
            <a:ext cx="2450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CRD: AirflowDeployment — declarative spec per tenant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3300984" y="3904488"/>
            <a:ext cx="64008" cy="6400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419856" y="3849624"/>
            <a:ext cx="2450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Watches for spec changes, applies Helm upgrades automatically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3300984" y="4206240"/>
            <a:ext cx="64008" cy="6400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419856" y="4151376"/>
            <a:ext cx="2450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Zero-downtime rolling updates for Airflow version upgrades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3300984" y="4507992"/>
            <a:ext cx="64008" cy="6400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419856" y="4453128"/>
            <a:ext cx="2450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machine: Provisioning → Running → Hibernating → Deleted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6071616" y="2999232"/>
            <a:ext cx="2788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8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6071616" y="2999232"/>
            <a:ext cx="2788920" cy="475488"/>
          </a:xfrm>
          <a:prstGeom prst="rect">
            <a:avLst/>
          </a:prstGeom>
          <a:solidFill>
            <a:srgbClr val="7C3AE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181344" y="3044952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GitOps / CI-CD Pipeline</a:t>
            </a:r>
            <a:endParaRPr lang="en-US" sz="1050" dirty="0"/>
          </a:p>
        </p:txBody>
      </p:sp>
      <p:sp>
        <p:nvSpPr>
          <p:cNvPr id="68" name="Text 66"/>
          <p:cNvSpPr/>
          <p:nvPr/>
        </p:nvSpPr>
        <p:spPr>
          <a:xfrm>
            <a:off x="6181344" y="3273552"/>
            <a:ext cx="2578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C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ArgoCD + GitHub Actions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6199632" y="3602736"/>
            <a:ext cx="64008" cy="6400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318504" y="3547872"/>
            <a:ext cx="2450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ArgoCD Application per tenant tracks values file in Git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6199632" y="3904488"/>
            <a:ext cx="64008" cy="6400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318504" y="3849624"/>
            <a:ext cx="2450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merged to Git automatically sync to cluster (max 3min lag)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6199632" y="4206240"/>
            <a:ext cx="64008" cy="6400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318504" y="4151376"/>
            <a:ext cx="2450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upgrades: Airflow version bump applied via Helm chart update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6199632" y="4507992"/>
            <a:ext cx="64008" cy="6400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318504" y="4453128"/>
            <a:ext cx="2450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Rollback: restore previous values commit in Git → auto-applied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286000"/>
            <a:ext cx="109728" cy="6400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19456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 — Observability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274320" y="30632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0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· Logs · Alerting · DAG-level lineage · SLA tracking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Observability Stack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Per-tenant visibility with a shared infrastructure — scrape all namespaces, scope results by tenant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1645920" cy="822960"/>
          </a:xfrm>
          <a:prstGeom prst="rect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24128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274320" y="1591056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per-namespace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1938528" y="1417320"/>
            <a:ext cx="512064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94560" y="1005840"/>
            <a:ext cx="1645920" cy="822960"/>
          </a:xfrm>
          <a:prstGeom prst="rect">
            <a:avLst/>
          </a:prstGeom>
          <a:solidFill>
            <a:srgbClr val="1B4F8A">
              <a:alpha val="12000"/>
            </a:srgbClr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94560" y="1024128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kube-state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194560" y="1591056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scrapes all ns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3858768" y="1417320"/>
            <a:ext cx="512064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14800" y="1005840"/>
            <a:ext cx="1645920" cy="822960"/>
          </a:xfrm>
          <a:prstGeom prst="rect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0" y="1024128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114800" y="1591056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tenant-scoped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5779008" y="1417320"/>
            <a:ext cx="512064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35040" y="1005840"/>
            <a:ext cx="1645920" cy="822960"/>
          </a:xfrm>
          <a:prstGeom prst="rect">
            <a:avLst/>
          </a:prstGeom>
          <a:solidFill>
            <a:srgbClr val="D97706">
              <a:alpha val="12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35040" y="1024128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AlertManager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SNS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035040" y="1591056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per-tenant rules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7699248" y="1417320"/>
            <a:ext cx="512064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0" y="1005840"/>
            <a:ext cx="1645920" cy="822960"/>
          </a:xfrm>
          <a:prstGeom prst="rect">
            <a:avLst/>
          </a:prstGeom>
          <a:solidFill>
            <a:srgbClr val="059669">
              <a:alpha val="12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1024128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PagerDuty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Slack / Email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7772400" y="1591056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notified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274320" y="1975104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PIPELINE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274320" y="2176272"/>
            <a:ext cx="1645920" cy="502920"/>
          </a:xfrm>
          <a:prstGeom prst="rect">
            <a:avLst/>
          </a:prstGeom>
          <a:solidFill>
            <a:srgbClr val="0D9488">
              <a:alpha val="8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2176272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Fluent Bit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sidecar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1938528" y="2432304"/>
            <a:ext cx="512064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194560" y="2176272"/>
            <a:ext cx="1645920" cy="502920"/>
          </a:xfrm>
          <a:prstGeom prst="rect">
            <a:avLst/>
          </a:prstGeom>
          <a:solidFill>
            <a:srgbClr val="1B4F8A">
              <a:alpha val="8000"/>
            </a:srgbClr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194560" y="2176272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858768" y="2432304"/>
            <a:ext cx="512064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114800" y="2176272"/>
            <a:ext cx="1645920" cy="502920"/>
          </a:xfrm>
          <a:prstGeom prst="rect">
            <a:avLst/>
          </a:prstGeom>
          <a:solidFill>
            <a:srgbClr val="D97706">
              <a:alpha val="8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0" y="2176272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Log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779008" y="2432304"/>
            <a:ext cx="512064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035040" y="2176272"/>
            <a:ext cx="1645920" cy="502920"/>
          </a:xfrm>
          <a:prstGeom prst="rect">
            <a:avLst/>
          </a:prstGeom>
          <a:solidFill>
            <a:srgbClr val="7C3AED">
              <a:alpha val="8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035040" y="2176272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Athena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7699248" y="2432304"/>
            <a:ext cx="512064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772400" y="2176272"/>
            <a:ext cx="1645920" cy="502920"/>
          </a:xfrm>
          <a:prstGeom prst="rect">
            <a:avLst/>
          </a:prstGeom>
          <a:solidFill>
            <a:srgbClr val="059669">
              <a:alpha val="8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772400" y="2176272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viewer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Dashboard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274320" y="28529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 Monitor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274320" y="3182112"/>
            <a:ext cx="2029968" cy="16824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274320" y="3182112"/>
            <a:ext cx="2029968" cy="329184"/>
          </a:xfrm>
          <a:prstGeom prst="rect">
            <a:avLst/>
          </a:prstGeom>
          <a:solidFill>
            <a:srgbClr val="0D1B2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3200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 Health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02336" y="3602736"/>
            <a:ext cx="64008" cy="6400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21208" y="3566160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 heartbeat lag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02336" y="3931920"/>
            <a:ext cx="64008" cy="6400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21208" y="3895344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queue depth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402336" y="4261104"/>
            <a:ext cx="64008" cy="6400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21208" y="4224528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DAG run count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402336" y="4590288"/>
            <a:ext cx="64008" cy="6400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21208" y="4553712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miss events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2450592" y="3182112"/>
            <a:ext cx="2029968" cy="16824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8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2450592" y="3182112"/>
            <a:ext cx="2029968" cy="329184"/>
          </a:xfrm>
          <a:prstGeom prst="rect">
            <a:avLst/>
          </a:prstGeom>
          <a:solidFill>
            <a:srgbClr val="0D1B2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542032" y="3200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2578608" y="3602736"/>
            <a:ext cx="64008" cy="6400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697480" y="3566160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CPU/memory usage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2578608" y="3931920"/>
            <a:ext cx="64008" cy="6400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697480" y="3895344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restart count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2578608" y="4261104"/>
            <a:ext cx="64008" cy="6400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697480" y="4224528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Namespace resource quota %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2578608" y="4590288"/>
            <a:ext cx="64008" cy="6400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697480" y="4553712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 connection pool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4626864" y="3182112"/>
            <a:ext cx="2029968" cy="16824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8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4626864" y="3182112"/>
            <a:ext cx="2029968" cy="329184"/>
          </a:xfrm>
          <a:prstGeom prst="rect">
            <a:avLst/>
          </a:prstGeom>
          <a:solidFill>
            <a:srgbClr val="0D1B2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718304" y="3200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4754880" y="3602736"/>
            <a:ext cx="64008" cy="6400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873752" y="3566160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runs per tenant/day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4754880" y="3931920"/>
            <a:ext cx="64008" cy="6400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873752" y="3895344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DAGs deployed count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4754880" y="4261104"/>
            <a:ext cx="64008" cy="6400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873752" y="4224528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uptime %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4754880" y="4590288"/>
            <a:ext cx="64008" cy="6400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873752" y="4553712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latency p99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6803136" y="3182112"/>
            <a:ext cx="2029968" cy="16824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8000"/>
              </a:srgbClr>
            </a:outerShdw>
          </a:effectLst>
        </p:spPr>
      </p:sp>
      <p:sp>
        <p:nvSpPr>
          <p:cNvPr id="74" name="Shape 72"/>
          <p:cNvSpPr/>
          <p:nvPr/>
        </p:nvSpPr>
        <p:spPr>
          <a:xfrm>
            <a:off x="6803136" y="3182112"/>
            <a:ext cx="2029968" cy="329184"/>
          </a:xfrm>
          <a:prstGeom prst="rect">
            <a:avLst/>
          </a:prstGeom>
          <a:solidFill>
            <a:srgbClr val="0D1B2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894576" y="3200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Signals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6931152" y="3602736"/>
            <a:ext cx="64008" cy="6400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050024" y="3566160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vCPU-hours consumed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6931152" y="3931920"/>
            <a:ext cx="64008" cy="6400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7050024" y="3895344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GB used (S3/RDS)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6931152" y="4261104"/>
            <a:ext cx="64008" cy="6400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7050024" y="4224528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environment count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6931152" y="4590288"/>
            <a:ext cx="64008" cy="6400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7050024" y="4553712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Overage trigger events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286000"/>
            <a:ext cx="109728" cy="6400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19456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 — Security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274320" y="30632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0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 in depth: 6 isolation layers · Zero-trust networking · Compliance readiness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Security Architecture — Defense in Depth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layers of isolation from the AWS account boundary to the container runtime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256032" y="960120"/>
            <a:ext cx="859536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960120"/>
            <a:ext cx="54864" cy="585216"/>
          </a:xfrm>
          <a:prstGeom prst="rect">
            <a:avLst/>
          </a:prstGeom>
          <a:solidFill>
            <a:srgbClr val="4338C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10896" y="960120"/>
            <a:ext cx="914400" cy="585216"/>
          </a:xfrm>
          <a:prstGeom prst="rect">
            <a:avLst/>
          </a:prstGeom>
          <a:solidFill>
            <a:srgbClr val="4338CA">
              <a:alpha val="1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03327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6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298448" y="1014984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AWS Account / VPC boundary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298448" y="1252728"/>
            <a:ext cx="7406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 cluster lives in private VPC subnets. No direct internet access to worker nodes. ALB + WAF at the edge.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56032" y="1618488"/>
            <a:ext cx="859536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6032" y="1618488"/>
            <a:ext cx="54864" cy="585216"/>
          </a:xfrm>
          <a:prstGeom prst="rect">
            <a:avLst/>
          </a:prstGeom>
          <a:solidFill>
            <a:srgbClr val="1B4F8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0896" y="1618488"/>
            <a:ext cx="914400" cy="585216"/>
          </a:xfrm>
          <a:prstGeom prst="rect">
            <a:avLst/>
          </a:prstGeom>
          <a:solidFill>
            <a:srgbClr val="1B4F8A">
              <a:alpha val="1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169164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5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298448" y="167335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EKS cluster RBAC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298448" y="1911096"/>
            <a:ext cx="7406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principals never touch the K8s API. Only the provisioning service account has cluster-wide permissions.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56032" y="2276856"/>
            <a:ext cx="859536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6032" y="2276856"/>
            <a:ext cx="54864" cy="585216"/>
          </a:xfrm>
          <a:prstGeom prst="rect">
            <a:avLst/>
          </a:prstGeom>
          <a:solidFill>
            <a:srgbClr val="0D948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10896" y="2276856"/>
            <a:ext cx="914400" cy="585216"/>
          </a:xfrm>
          <a:prstGeom prst="rect">
            <a:avLst/>
          </a:prstGeom>
          <a:solidFill>
            <a:srgbClr val="0D9488">
              <a:alpha val="1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" y="235000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4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298448" y="233172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Namespace + NetworkPolicy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298448" y="2569464"/>
            <a:ext cx="7406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Calico CNI enforces deny-all between namespaces. Only control-plane can reach data-plane management ports.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56032" y="2935224"/>
            <a:ext cx="859536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6032" y="2935224"/>
            <a:ext cx="54864" cy="585216"/>
          </a:xfrm>
          <a:prstGeom prst="rect">
            <a:avLst/>
          </a:prstGeom>
          <a:solidFill>
            <a:srgbClr val="00B4D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10896" y="2935224"/>
            <a:ext cx="914400" cy="585216"/>
          </a:xfrm>
          <a:prstGeom prst="rect">
            <a:avLst/>
          </a:prstGeom>
          <a:solidFill>
            <a:srgbClr val="00B4D8">
              <a:alpha val="1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" y="3008376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1298448" y="299008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IRSA + IAM Roles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298448" y="3227832"/>
            <a:ext cx="7406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ServiceAccounts mapped to IAM roles. Each role has explicit allow-only policies for that tenant's S3/RDS/Secrets paths.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56032" y="3593592"/>
            <a:ext cx="859536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56032" y="3593592"/>
            <a:ext cx="54864" cy="585216"/>
          </a:xfrm>
          <a:prstGeom prst="rect">
            <a:avLst/>
          </a:prstGeom>
          <a:solidFill>
            <a:srgbClr val="05966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10896" y="3593592"/>
            <a:ext cx="914400" cy="585216"/>
          </a:xfrm>
          <a:prstGeom prst="rect">
            <a:avLst/>
          </a:prstGeom>
          <a:solidFill>
            <a:srgbClr val="059669">
              <a:alpha val="1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7472" y="3666744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1298448" y="3648456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Secrets encryption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298448" y="3886200"/>
            <a:ext cx="7406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 and Airflow fernet key stored in Secrets Manager with KMS CMK encryption. Rotated every 90 days.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56032" y="4251960"/>
            <a:ext cx="859536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56032" y="4251960"/>
            <a:ext cx="54864" cy="585216"/>
          </a:xfrm>
          <a:prstGeom prst="rect">
            <a:avLst/>
          </a:prstGeom>
          <a:solidFill>
            <a:srgbClr val="D9770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10896" y="4251960"/>
            <a:ext cx="914400" cy="585216"/>
          </a:xfrm>
          <a:prstGeom prst="rect">
            <a:avLst/>
          </a:prstGeom>
          <a:solidFill>
            <a:srgbClr val="D97706">
              <a:alpha val="1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7472" y="432511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1298448" y="4306824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Container security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298448" y="4544568"/>
            <a:ext cx="7406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runAsNonRoot: true, readOnlyRootFilesystem, dropped capabilities, no host network. Seccomp default profile enabled.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256032" y="4919472"/>
            <a:ext cx="8595360" cy="128016"/>
          </a:xfrm>
          <a:prstGeom prst="rect">
            <a:avLst/>
          </a:prstGeom>
          <a:solidFill>
            <a:srgbClr val="EEF2FF"/>
          </a:solidFill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286000"/>
            <a:ext cx="109728" cy="6400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19456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 — Delivery Roadmap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274320" y="30632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0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MVP (M1–M3)  ·  Phase 2: GA (M4–M6)  ·  Phase 3: Enterprise (M7–M9)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9-Month Phased Delivery Roadmap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phases from internal MVP to enterprise-grade platform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256032" y="960120"/>
            <a:ext cx="2743200" cy="548640"/>
          </a:xfrm>
          <a:prstGeom prst="rect">
            <a:avLst/>
          </a:prstGeom>
          <a:solidFill>
            <a:srgbClr val="6366F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87552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1207008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Foundation MVP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719072" y="987552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C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 – 3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56032" y="1517904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First customer environment live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56032" y="1783080"/>
            <a:ext cx="2743200" cy="201168"/>
          </a:xfrm>
          <a:prstGeom prst="rect">
            <a:avLst/>
          </a:prstGeom>
          <a:solidFill>
            <a:srgbClr val="6366F1">
              <a:alpha val="1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1801368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65760" y="2066544"/>
            <a:ext cx="64008" cy="64008"/>
          </a:xfrm>
          <a:prstGeom prst="ellipse">
            <a:avLst/>
          </a:prstGeom>
          <a:solidFill>
            <a:srgbClr val="6366F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2020824"/>
            <a:ext cx="2423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 cluster setup (VPC, node groups, Karpenter)</a:t>
            </a:r>
            <a:endParaRPr lang="en-US" sz="780" dirty="0"/>
          </a:p>
        </p:txBody>
      </p:sp>
      <p:sp>
        <p:nvSpPr>
          <p:cNvPr id="14" name="Shape 12"/>
          <p:cNvSpPr/>
          <p:nvPr/>
        </p:nvSpPr>
        <p:spPr>
          <a:xfrm>
            <a:off x="365760" y="2304288"/>
            <a:ext cx="64008" cy="64008"/>
          </a:xfrm>
          <a:prstGeom prst="ellipse">
            <a:avLst/>
          </a:prstGeom>
          <a:solidFill>
            <a:srgbClr val="6366F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2258568"/>
            <a:ext cx="2423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Helm chart integration (apache-airflow/airflow)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365760" y="2542032"/>
            <a:ext cx="64008" cy="64008"/>
          </a:xfrm>
          <a:prstGeom prst="ellipse">
            <a:avLst/>
          </a:prstGeom>
          <a:solidFill>
            <a:srgbClr val="6366F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2496312"/>
            <a:ext cx="2423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 provisioning automation</a:t>
            </a:r>
            <a:endParaRPr lang="en-US" sz="780" dirty="0"/>
          </a:p>
        </p:txBody>
      </p:sp>
      <p:sp>
        <p:nvSpPr>
          <p:cNvPr id="18" name="Shape 16"/>
          <p:cNvSpPr/>
          <p:nvPr/>
        </p:nvSpPr>
        <p:spPr>
          <a:xfrm>
            <a:off x="365760" y="2779776"/>
            <a:ext cx="64008" cy="64008"/>
          </a:xfrm>
          <a:prstGeom prst="ellipse">
            <a:avLst/>
          </a:prstGeom>
          <a:solidFill>
            <a:srgbClr val="6366F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" y="2734056"/>
            <a:ext cx="2423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ECR + Secrets Manager integration</a:t>
            </a:r>
            <a:endParaRPr lang="en-US" sz="780" dirty="0"/>
          </a:p>
        </p:txBody>
      </p:sp>
      <p:sp>
        <p:nvSpPr>
          <p:cNvPr id="20" name="Shape 18"/>
          <p:cNvSpPr/>
          <p:nvPr/>
        </p:nvSpPr>
        <p:spPr>
          <a:xfrm>
            <a:off x="256032" y="3054096"/>
            <a:ext cx="2743200" cy="201168"/>
          </a:xfrm>
          <a:prstGeom prst="rect">
            <a:avLst/>
          </a:prstGeom>
          <a:solidFill>
            <a:srgbClr val="6366F1">
              <a:alpha val="1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" y="3072384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Plane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65760" y="3337560"/>
            <a:ext cx="64008" cy="64008"/>
          </a:xfrm>
          <a:prstGeom prst="ellipse">
            <a:avLst/>
          </a:prstGeom>
          <a:solidFill>
            <a:srgbClr val="6366F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" y="3291840"/>
            <a:ext cx="2423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provisioning API (create/delete environments)</a:t>
            </a:r>
            <a:endParaRPr lang="en-US" sz="780" dirty="0"/>
          </a:p>
        </p:txBody>
      </p:sp>
      <p:sp>
        <p:nvSpPr>
          <p:cNvPr id="24" name="Shape 22"/>
          <p:cNvSpPr/>
          <p:nvPr/>
        </p:nvSpPr>
        <p:spPr>
          <a:xfrm>
            <a:off x="365760" y="3575304"/>
            <a:ext cx="64008" cy="64008"/>
          </a:xfrm>
          <a:prstGeom prst="ellipse">
            <a:avLst/>
          </a:prstGeom>
          <a:solidFill>
            <a:srgbClr val="6366F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" y="3529584"/>
            <a:ext cx="2423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Namespace + NetworkPolicy + ResourceQuota automation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365760" y="3813048"/>
            <a:ext cx="64008" cy="64008"/>
          </a:xfrm>
          <a:prstGeom prst="ellipse">
            <a:avLst/>
          </a:prstGeom>
          <a:solidFill>
            <a:srgbClr val="6366F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" y="3767328"/>
            <a:ext cx="2423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web dashboard (create env, view status)</a:t>
            </a:r>
            <a:endParaRPr lang="en-US" sz="780" dirty="0"/>
          </a:p>
        </p:txBody>
      </p:sp>
      <p:sp>
        <p:nvSpPr>
          <p:cNvPr id="28" name="Shape 26"/>
          <p:cNvSpPr/>
          <p:nvPr/>
        </p:nvSpPr>
        <p:spPr>
          <a:xfrm>
            <a:off x="256032" y="4087368"/>
            <a:ext cx="2743200" cy="201168"/>
          </a:xfrm>
          <a:prstGeom prst="rect">
            <a:avLst/>
          </a:prstGeom>
          <a:solidFill>
            <a:srgbClr val="6366F1">
              <a:alpha val="1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7472" y="410565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 Access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65760" y="4370832"/>
            <a:ext cx="64008" cy="64008"/>
          </a:xfrm>
          <a:prstGeom prst="ellipse">
            <a:avLst/>
          </a:prstGeom>
          <a:solidFill>
            <a:srgbClr val="6366F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" y="4325112"/>
            <a:ext cx="2423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Cognito User Pool setup</a:t>
            </a:r>
            <a:endParaRPr lang="en-US" sz="780" dirty="0"/>
          </a:p>
        </p:txBody>
      </p:sp>
      <p:sp>
        <p:nvSpPr>
          <p:cNvPr id="32" name="Shape 30"/>
          <p:cNvSpPr/>
          <p:nvPr/>
        </p:nvSpPr>
        <p:spPr>
          <a:xfrm>
            <a:off x="365760" y="4608576"/>
            <a:ext cx="64008" cy="64008"/>
          </a:xfrm>
          <a:prstGeom prst="ellipse">
            <a:avLst/>
          </a:prstGeom>
          <a:solidFill>
            <a:srgbClr val="6366F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" y="4562856"/>
            <a:ext cx="2423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RBAC (Owner/Admin roles)</a:t>
            </a:r>
            <a:endParaRPr lang="en-US" sz="780" dirty="0"/>
          </a:p>
        </p:txBody>
      </p:sp>
      <p:sp>
        <p:nvSpPr>
          <p:cNvPr id="34" name="Shape 32"/>
          <p:cNvSpPr/>
          <p:nvPr/>
        </p:nvSpPr>
        <p:spPr>
          <a:xfrm>
            <a:off x="365760" y="4846320"/>
            <a:ext cx="64008" cy="64008"/>
          </a:xfrm>
          <a:prstGeom prst="ellipse">
            <a:avLst/>
          </a:prstGeom>
          <a:solidFill>
            <a:srgbClr val="6366F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" y="4800600"/>
            <a:ext cx="2423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Per-tenant ingress + wildcard TLS cert</a:t>
            </a:r>
            <a:endParaRPr lang="en-US" sz="780" dirty="0"/>
          </a:p>
        </p:txBody>
      </p:sp>
      <p:sp>
        <p:nvSpPr>
          <p:cNvPr id="36" name="Shape 34"/>
          <p:cNvSpPr/>
          <p:nvPr/>
        </p:nvSpPr>
        <p:spPr>
          <a:xfrm>
            <a:off x="3163824" y="960120"/>
            <a:ext cx="2743200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73552" y="987552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273552" y="1207008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General Availability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626864" y="987552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C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4 – 6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3163824" y="1517904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Production-ready for paying customers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163824" y="1783080"/>
            <a:ext cx="2743200" cy="201168"/>
          </a:xfrm>
          <a:prstGeom prst="rect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55264" y="1801368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3273552" y="2066544"/>
            <a:ext cx="64008" cy="640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383280" y="2020824"/>
            <a:ext cx="2423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Karpenter consolidation + spot instance strategy</a:t>
            </a:r>
            <a:endParaRPr lang="en-US" sz="780" dirty="0"/>
          </a:p>
        </p:txBody>
      </p:sp>
      <p:sp>
        <p:nvSpPr>
          <p:cNvPr id="45" name="Shape 43"/>
          <p:cNvSpPr/>
          <p:nvPr/>
        </p:nvSpPr>
        <p:spPr>
          <a:xfrm>
            <a:off x="3273552" y="2304288"/>
            <a:ext cx="64008" cy="640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383280" y="2258568"/>
            <a:ext cx="2423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Multi-AZ RDS with automated failover</a:t>
            </a:r>
            <a:endParaRPr lang="en-US" sz="780" dirty="0"/>
          </a:p>
        </p:txBody>
      </p:sp>
      <p:sp>
        <p:nvSpPr>
          <p:cNvPr id="47" name="Shape 45"/>
          <p:cNvSpPr/>
          <p:nvPr/>
        </p:nvSpPr>
        <p:spPr>
          <a:xfrm>
            <a:off x="3273552" y="2542032"/>
            <a:ext cx="64008" cy="640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383280" y="2496312"/>
            <a:ext cx="2423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DAG bucket + git-sync sidecar</a:t>
            </a:r>
            <a:endParaRPr lang="en-US" sz="780" dirty="0"/>
          </a:p>
        </p:txBody>
      </p:sp>
      <p:sp>
        <p:nvSpPr>
          <p:cNvPr id="49" name="Shape 47"/>
          <p:cNvSpPr/>
          <p:nvPr/>
        </p:nvSpPr>
        <p:spPr>
          <a:xfrm>
            <a:off x="3273552" y="2779776"/>
            <a:ext cx="64008" cy="640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383280" y="2734056"/>
            <a:ext cx="2423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autoscaler → Karpenter migration</a:t>
            </a:r>
            <a:endParaRPr lang="en-US" sz="780" dirty="0"/>
          </a:p>
        </p:txBody>
      </p:sp>
      <p:sp>
        <p:nvSpPr>
          <p:cNvPr id="51" name="Shape 49"/>
          <p:cNvSpPr/>
          <p:nvPr/>
        </p:nvSpPr>
        <p:spPr>
          <a:xfrm>
            <a:off x="3163824" y="3054096"/>
            <a:ext cx="2743200" cy="201168"/>
          </a:xfrm>
          <a:prstGeom prst="rect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255264" y="3072384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Features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3273552" y="3337560"/>
            <a:ext cx="64008" cy="640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383280" y="3291840"/>
            <a:ext cx="2423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hibernation (scale-to-zero + wake)</a:t>
            </a:r>
            <a:endParaRPr lang="en-US" sz="780" dirty="0"/>
          </a:p>
        </p:txBody>
      </p:sp>
      <p:sp>
        <p:nvSpPr>
          <p:cNvPr id="55" name="Shape 53"/>
          <p:cNvSpPr/>
          <p:nvPr/>
        </p:nvSpPr>
        <p:spPr>
          <a:xfrm>
            <a:off x="3273552" y="3575304"/>
            <a:ext cx="64008" cy="640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383280" y="3529584"/>
            <a:ext cx="2423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 version selector in dashboard</a:t>
            </a:r>
            <a:endParaRPr lang="en-US" sz="780" dirty="0"/>
          </a:p>
        </p:txBody>
      </p:sp>
      <p:sp>
        <p:nvSpPr>
          <p:cNvPr id="57" name="Shape 55"/>
          <p:cNvSpPr/>
          <p:nvPr/>
        </p:nvSpPr>
        <p:spPr>
          <a:xfrm>
            <a:off x="3273552" y="3813048"/>
            <a:ext cx="64008" cy="640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383280" y="3767328"/>
            <a:ext cx="2423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 deployment via GitHub integration</a:t>
            </a:r>
            <a:endParaRPr lang="en-US" sz="780" dirty="0"/>
          </a:p>
        </p:txBody>
      </p:sp>
      <p:sp>
        <p:nvSpPr>
          <p:cNvPr id="59" name="Shape 57"/>
          <p:cNvSpPr/>
          <p:nvPr/>
        </p:nvSpPr>
        <p:spPr>
          <a:xfrm>
            <a:off x="3273552" y="4050792"/>
            <a:ext cx="64008" cy="640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383280" y="4005072"/>
            <a:ext cx="2423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Connections &amp; Variables UI management</a:t>
            </a:r>
            <a:endParaRPr lang="en-US" sz="780" dirty="0"/>
          </a:p>
        </p:txBody>
      </p:sp>
      <p:sp>
        <p:nvSpPr>
          <p:cNvPr id="61" name="Shape 59"/>
          <p:cNvSpPr/>
          <p:nvPr/>
        </p:nvSpPr>
        <p:spPr>
          <a:xfrm>
            <a:off x="3163824" y="4325112"/>
            <a:ext cx="2743200" cy="201168"/>
          </a:xfrm>
          <a:prstGeom prst="rect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255264" y="434340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&amp; Billing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3273552" y="4608576"/>
            <a:ext cx="64008" cy="640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383280" y="4562856"/>
            <a:ext cx="2423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+ Grafana per-tenant dashboards</a:t>
            </a:r>
            <a:endParaRPr lang="en-US" sz="780" dirty="0"/>
          </a:p>
        </p:txBody>
      </p:sp>
      <p:sp>
        <p:nvSpPr>
          <p:cNvPr id="65" name="Shape 63"/>
          <p:cNvSpPr/>
          <p:nvPr/>
        </p:nvSpPr>
        <p:spPr>
          <a:xfrm>
            <a:off x="3273552" y="4846320"/>
            <a:ext cx="64008" cy="640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383280" y="4800600"/>
            <a:ext cx="2423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Fluent Bit log pipeline to CloudWatch + S3</a:t>
            </a:r>
            <a:endParaRPr lang="en-US" sz="780" dirty="0"/>
          </a:p>
        </p:txBody>
      </p:sp>
      <p:sp>
        <p:nvSpPr>
          <p:cNvPr id="67" name="Shape 65"/>
          <p:cNvSpPr/>
          <p:nvPr/>
        </p:nvSpPr>
        <p:spPr>
          <a:xfrm>
            <a:off x="3273552" y="5084064"/>
            <a:ext cx="64008" cy="640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383280" y="5038344"/>
            <a:ext cx="2423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billing integration + usage metering</a:t>
            </a:r>
            <a:endParaRPr lang="en-US" sz="780" dirty="0"/>
          </a:p>
        </p:txBody>
      </p:sp>
      <p:sp>
        <p:nvSpPr>
          <p:cNvPr id="69" name="Shape 67"/>
          <p:cNvSpPr/>
          <p:nvPr/>
        </p:nvSpPr>
        <p:spPr>
          <a:xfrm>
            <a:off x="3273552" y="5321808"/>
            <a:ext cx="64008" cy="640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383280" y="5276088"/>
            <a:ext cx="2423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alerting via SNS → email/Slack/PagerDuty</a:t>
            </a:r>
            <a:endParaRPr lang="en-US" sz="780" dirty="0"/>
          </a:p>
        </p:txBody>
      </p:sp>
      <p:sp>
        <p:nvSpPr>
          <p:cNvPr id="71" name="Shape 69"/>
          <p:cNvSpPr/>
          <p:nvPr/>
        </p:nvSpPr>
        <p:spPr>
          <a:xfrm>
            <a:off x="6071616" y="960120"/>
            <a:ext cx="2743200" cy="548640"/>
          </a:xfrm>
          <a:prstGeom prst="rect">
            <a:avLst/>
          </a:prstGeom>
          <a:solidFill>
            <a:srgbClr val="05966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181344" y="987552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6181344" y="1207008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Enterprise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7534656" y="987552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C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7 – 9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6071616" y="1517904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Compliance, SSO, dedicated clusters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6071616" y="1783080"/>
            <a:ext cx="2743200" cy="201168"/>
          </a:xfrm>
          <a:prstGeom prst="rect">
            <a:avLst/>
          </a:prstGeom>
          <a:solidFill>
            <a:srgbClr val="059669">
              <a:alpha val="1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163056" y="1801368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Auth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6181344" y="2066544"/>
            <a:ext cx="64008" cy="6400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291072" y="2020824"/>
            <a:ext cx="2423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SAML 2.0 / OIDC federation (Okta, Azure AD)</a:t>
            </a:r>
            <a:endParaRPr lang="en-US" sz="780" dirty="0"/>
          </a:p>
        </p:txBody>
      </p:sp>
      <p:sp>
        <p:nvSpPr>
          <p:cNvPr id="80" name="Shape 78"/>
          <p:cNvSpPr/>
          <p:nvPr/>
        </p:nvSpPr>
        <p:spPr>
          <a:xfrm>
            <a:off x="6181344" y="2304288"/>
            <a:ext cx="64008" cy="6400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291072" y="2258568"/>
            <a:ext cx="2423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Team/Workspace hierarchy model</a:t>
            </a:r>
            <a:endParaRPr lang="en-US" sz="780" dirty="0"/>
          </a:p>
        </p:txBody>
      </p:sp>
      <p:sp>
        <p:nvSpPr>
          <p:cNvPr id="82" name="Shape 80"/>
          <p:cNvSpPr/>
          <p:nvPr/>
        </p:nvSpPr>
        <p:spPr>
          <a:xfrm>
            <a:off x="6181344" y="2542032"/>
            <a:ext cx="64008" cy="6400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291072" y="2496312"/>
            <a:ext cx="2423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Fine-grained RBAC (Editor, Viewer, Ops roles)</a:t>
            </a:r>
            <a:endParaRPr lang="en-US" sz="780" dirty="0"/>
          </a:p>
        </p:txBody>
      </p:sp>
      <p:sp>
        <p:nvSpPr>
          <p:cNvPr id="84" name="Shape 82"/>
          <p:cNvSpPr/>
          <p:nvPr/>
        </p:nvSpPr>
        <p:spPr>
          <a:xfrm>
            <a:off x="6181344" y="2779776"/>
            <a:ext cx="64008" cy="6400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291072" y="2734056"/>
            <a:ext cx="2423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 API for SOC 2 compliance</a:t>
            </a:r>
            <a:endParaRPr lang="en-US" sz="780" dirty="0"/>
          </a:p>
        </p:txBody>
      </p:sp>
      <p:sp>
        <p:nvSpPr>
          <p:cNvPr id="86" name="Shape 84"/>
          <p:cNvSpPr/>
          <p:nvPr/>
        </p:nvSpPr>
        <p:spPr>
          <a:xfrm>
            <a:off x="6071616" y="3054096"/>
            <a:ext cx="2743200" cy="201168"/>
          </a:xfrm>
          <a:prstGeom prst="rect">
            <a:avLst/>
          </a:prstGeom>
          <a:solidFill>
            <a:srgbClr val="059669">
              <a:alpha val="1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6163056" y="3072384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Platform</a:t>
            </a:r>
            <a:endParaRPr lang="en-US" sz="800" dirty="0"/>
          </a:p>
        </p:txBody>
      </p:sp>
      <p:sp>
        <p:nvSpPr>
          <p:cNvPr id="88" name="Shape 86"/>
          <p:cNvSpPr/>
          <p:nvPr/>
        </p:nvSpPr>
        <p:spPr>
          <a:xfrm>
            <a:off x="6181344" y="3337560"/>
            <a:ext cx="64008" cy="6400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6291072" y="3291840"/>
            <a:ext cx="2423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cluster option for regulated customers</a:t>
            </a:r>
            <a:endParaRPr lang="en-US" sz="780" dirty="0"/>
          </a:p>
        </p:txBody>
      </p:sp>
      <p:sp>
        <p:nvSpPr>
          <p:cNvPr id="90" name="Shape 88"/>
          <p:cNvSpPr/>
          <p:nvPr/>
        </p:nvSpPr>
        <p:spPr>
          <a:xfrm>
            <a:off x="6181344" y="3575304"/>
            <a:ext cx="64008" cy="6400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291072" y="3529584"/>
            <a:ext cx="2423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domain mapping per tenant</a:t>
            </a:r>
            <a:endParaRPr lang="en-US" sz="780" dirty="0"/>
          </a:p>
        </p:txBody>
      </p:sp>
      <p:sp>
        <p:nvSpPr>
          <p:cNvPr id="92" name="Shape 90"/>
          <p:cNvSpPr/>
          <p:nvPr/>
        </p:nvSpPr>
        <p:spPr>
          <a:xfrm>
            <a:off x="6181344" y="3813048"/>
            <a:ext cx="64008" cy="6400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6291072" y="3767328"/>
            <a:ext cx="2423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provider for infra-as-code management</a:t>
            </a:r>
            <a:endParaRPr lang="en-US" sz="780" dirty="0"/>
          </a:p>
        </p:txBody>
      </p:sp>
      <p:sp>
        <p:nvSpPr>
          <p:cNvPr id="94" name="Shape 92"/>
          <p:cNvSpPr/>
          <p:nvPr/>
        </p:nvSpPr>
        <p:spPr>
          <a:xfrm>
            <a:off x="6181344" y="4050792"/>
            <a:ext cx="64008" cy="6400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6291072" y="4005072"/>
            <a:ext cx="2423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ArgoCD GitOps full integration (per-tenant apps)</a:t>
            </a:r>
            <a:endParaRPr lang="en-US" sz="780" dirty="0"/>
          </a:p>
        </p:txBody>
      </p:sp>
      <p:sp>
        <p:nvSpPr>
          <p:cNvPr id="96" name="Shape 94"/>
          <p:cNvSpPr/>
          <p:nvPr/>
        </p:nvSpPr>
        <p:spPr>
          <a:xfrm>
            <a:off x="6071616" y="4325112"/>
            <a:ext cx="2743200" cy="201168"/>
          </a:xfrm>
          <a:prstGeom prst="rect">
            <a:avLst/>
          </a:prstGeom>
          <a:solidFill>
            <a:srgbClr val="059669">
              <a:alpha val="1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6163056" y="434340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Analytics</a:t>
            </a:r>
            <a:endParaRPr lang="en-US" sz="800" dirty="0"/>
          </a:p>
        </p:txBody>
      </p:sp>
      <p:sp>
        <p:nvSpPr>
          <p:cNvPr id="98" name="Shape 96"/>
          <p:cNvSpPr/>
          <p:nvPr/>
        </p:nvSpPr>
        <p:spPr>
          <a:xfrm>
            <a:off x="6181344" y="4608576"/>
            <a:ext cx="64008" cy="6400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6291072" y="4562856"/>
            <a:ext cx="2423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 performance analytics + optimization hints</a:t>
            </a:r>
            <a:endParaRPr lang="en-US" sz="780" dirty="0"/>
          </a:p>
        </p:txBody>
      </p:sp>
      <p:sp>
        <p:nvSpPr>
          <p:cNvPr id="100" name="Shape 98"/>
          <p:cNvSpPr/>
          <p:nvPr/>
        </p:nvSpPr>
        <p:spPr>
          <a:xfrm>
            <a:off x="6181344" y="4846320"/>
            <a:ext cx="64008" cy="6400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6291072" y="4800600"/>
            <a:ext cx="2423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failure root-cause AI analysis</a:t>
            </a:r>
            <a:endParaRPr lang="en-US" sz="780" dirty="0"/>
          </a:p>
        </p:txBody>
      </p:sp>
      <p:sp>
        <p:nvSpPr>
          <p:cNvPr id="102" name="Shape 100"/>
          <p:cNvSpPr/>
          <p:nvPr/>
        </p:nvSpPr>
        <p:spPr>
          <a:xfrm>
            <a:off x="6181344" y="5084064"/>
            <a:ext cx="64008" cy="6400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6291072" y="5038344"/>
            <a:ext cx="2423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lineage tracking (OpenLineage integration)</a:t>
            </a:r>
            <a:endParaRPr lang="en-US" sz="780" dirty="0"/>
          </a:p>
        </p:txBody>
      </p:sp>
      <p:sp>
        <p:nvSpPr>
          <p:cNvPr id="104" name="Shape 102"/>
          <p:cNvSpPr/>
          <p:nvPr/>
        </p:nvSpPr>
        <p:spPr>
          <a:xfrm>
            <a:off x="6181344" y="5321808"/>
            <a:ext cx="64008" cy="6400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6291072" y="5276088"/>
            <a:ext cx="2423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 3.0 asset-based scheduling support</a:t>
            </a:r>
            <a:endParaRPr lang="en-US" sz="78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Resource Sizing &amp; Cost Model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Per-tenant AWS cost estimates and recommended Airflow component sizing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74320" y="96012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 Tiers — Airflow Component Sizing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8595360" cy="292608"/>
          </a:xfrm>
          <a:prstGeom prst="rect">
            <a:avLst/>
          </a:prstGeom>
          <a:solidFill>
            <a:srgbClr val="0D1B2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261872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508760" y="1261872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606040" y="1261872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Webserver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703320" y="1261872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800600" y="1261872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Triggerer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806440" y="1261872"/>
            <a:ext cx="1234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 Instance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7132320" y="1261872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Cost/mo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74320" y="1527048"/>
            <a:ext cx="85953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157276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508760" y="157276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 CPU / 1Gi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606040" y="157276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 CPU / 1Gi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703320" y="157276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× 1CPU/2Gi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800600" y="157276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 CPU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806440" y="1572768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db.t3.micro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7132320" y="157276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~$80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74320" y="1892808"/>
            <a:ext cx="859536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193852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508760" y="193852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CPU / 2Gi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606040" y="193852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CPU / 2Gi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703320" y="193852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1–3 × 1CPU/2Gi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800600" y="193852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 CPU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806440" y="1938528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db.t3.small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7132320" y="193852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~$160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74320" y="2258568"/>
            <a:ext cx="85953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230428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508760" y="230428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CPU / 4Gi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2606040" y="230428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CPU / 2Gi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3703320" y="230428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2–8 × 2CPU/4Gi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800600" y="230428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CPU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806440" y="2304288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db.t3.medium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7132320" y="230428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~$380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274320" y="2624328"/>
            <a:ext cx="859536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0040" y="267004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1508760" y="267004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CPU / 8Gi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2606040" y="267004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CPU / 4Gi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3703320" y="267004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4–20 × 2CPU/8Gi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800600" y="267004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CPU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5806440" y="2670048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db.r6g.large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7132320" y="267004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~$900+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274320" y="312724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Platform Infrastructure Overhead (shared, amortized across tenants)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274320" y="3438144"/>
            <a:ext cx="27889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84048" y="3474720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 Control Plane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2148840" y="3474720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$144/mo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384048" y="3712464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managed, always-on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3182112" y="3438144"/>
            <a:ext cx="27889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291840" y="3474720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Karpenter controller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056632" y="3474720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~$15/mo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3291840" y="3712464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small EC2 instance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6089904" y="3438144"/>
            <a:ext cx="27889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199632" y="3474720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ArgoCD + GitOps stack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7964424" y="3474720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~$30/mo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6199632" y="3712464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namespace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274320" y="4059936"/>
            <a:ext cx="27889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84048" y="4096512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+ Grafana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2148840" y="4096512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~$60/mo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384048" y="4334256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EBS-backed PVCs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3182112" y="4059936"/>
            <a:ext cx="27889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291840" y="4096512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 + Route53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5056632" y="4096512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~$40/mo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3291840" y="4334256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Per-LCU pricing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6089904" y="4059936"/>
            <a:ext cx="27889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199632" y="4096512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 Gateway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7964424" y="4096512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~$50/mo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6199632" y="4334256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 traffic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Break-even: ~3 paying Starter customers cover full platform overhead. Gross margin improves significantly at 10+ customers.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286000"/>
            <a:ext cx="109728" cy="6400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19456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 — Team &amp; Dependencies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274320" y="30632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0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team structure · Skills required · Key risks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Team Structure, Skills &amp; Key Risks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need to build this — and what can go wrong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74320" y="96012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Engineering Team (Phase 1 MVP)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74320" y="1261872"/>
            <a:ext cx="42976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206240" y="1353312"/>
            <a:ext cx="292608" cy="219456"/>
          </a:xfrm>
          <a:prstGeom prst="roundRect">
            <a:avLst>
              <a:gd name="adj" fmla="val 20833"/>
            </a:avLst>
          </a:prstGeom>
          <a:solidFill>
            <a:srgbClr val="1B4F8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06240" y="1353312"/>
            <a:ext cx="2926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84048" y="129844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/ DevOps Engineer (×2)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84048" y="1481328"/>
            <a:ext cx="3749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EKS, Helm, Terraform, Karpenter, Kubernetes operators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74320" y="1737360"/>
            <a:ext cx="429768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06240" y="1828800"/>
            <a:ext cx="292608" cy="219456"/>
          </a:xfrm>
          <a:prstGeom prst="roundRect">
            <a:avLst>
              <a:gd name="adj" fmla="val 20833"/>
            </a:avLst>
          </a:prstGeom>
          <a:solidFill>
            <a:srgbClr val="1B4F8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06240" y="1828800"/>
            <a:ext cx="2926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384048" y="1773936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Engineer (×2)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84048" y="1956816"/>
            <a:ext cx="3749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or Node.js, provisioning API, Kubernetes client, PostgreSQL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74320" y="2212848"/>
            <a:ext cx="42976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06240" y="2304288"/>
            <a:ext cx="292608" cy="219456"/>
          </a:xfrm>
          <a:prstGeom prst="roundRect">
            <a:avLst>
              <a:gd name="adj" fmla="val 20833"/>
            </a:avLst>
          </a:prstGeom>
          <a:solidFill>
            <a:srgbClr val="1B4F8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06240" y="2304288"/>
            <a:ext cx="2926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384048" y="2249424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Engineer (×1)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84048" y="2432304"/>
            <a:ext cx="3749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React, TypeScript, AWS API Gateway, WebSocket for live status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74320" y="2688336"/>
            <a:ext cx="429768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06240" y="2779776"/>
            <a:ext cx="292608" cy="219456"/>
          </a:xfrm>
          <a:prstGeom prst="roundRect">
            <a:avLst>
              <a:gd name="adj" fmla="val 20833"/>
            </a:avLst>
          </a:prstGeom>
          <a:solidFill>
            <a:srgbClr val="1B4F8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06240" y="2779776"/>
            <a:ext cx="2926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384048" y="272491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Airflow/Data Engineer (×1)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84048" y="2907792"/>
            <a:ext cx="3749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 internals, DAG patterns, provider packages, executor tuning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274320" y="3163824"/>
            <a:ext cx="42976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206240" y="3255264"/>
            <a:ext cx="292608" cy="219456"/>
          </a:xfrm>
          <a:prstGeom prst="roundRect">
            <a:avLst>
              <a:gd name="adj" fmla="val 20833"/>
            </a:avLst>
          </a:prstGeom>
          <a:solidFill>
            <a:srgbClr val="0D948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06240" y="3255264"/>
            <a:ext cx="2926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384048" y="320040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Engineer (×1, part-time)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84048" y="3383280"/>
            <a:ext cx="3749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IAM/IRSA, K8s RBAC, Secrets Manager, pen testing</a:t>
            </a:r>
            <a:endParaRPr lang="en-US" sz="780" dirty="0"/>
          </a:p>
        </p:txBody>
      </p:sp>
      <p:sp>
        <p:nvSpPr>
          <p:cNvPr id="31" name="Shape 29"/>
          <p:cNvSpPr/>
          <p:nvPr/>
        </p:nvSpPr>
        <p:spPr>
          <a:xfrm>
            <a:off x="274320" y="3639312"/>
            <a:ext cx="429768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206240" y="3730752"/>
            <a:ext cx="292608" cy="219456"/>
          </a:xfrm>
          <a:prstGeom prst="roundRect">
            <a:avLst>
              <a:gd name="adj" fmla="val 20833"/>
            </a:avLst>
          </a:prstGeom>
          <a:solidFill>
            <a:srgbClr val="0D948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206240" y="3730752"/>
            <a:ext cx="2926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384048" y="367588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Engineer (×1)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84048" y="3858768"/>
            <a:ext cx="3749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operator (controller-runtime), CRD design, reconciliation loops</a:t>
            </a:r>
            <a:endParaRPr lang="en-US" sz="780" dirty="0"/>
          </a:p>
        </p:txBody>
      </p:sp>
      <p:sp>
        <p:nvSpPr>
          <p:cNvPr id="36" name="Text 34"/>
          <p:cNvSpPr/>
          <p:nvPr/>
        </p:nvSpPr>
        <p:spPr>
          <a:xfrm>
            <a:off x="4937760" y="9601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Risks &amp; Mitigations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4937760" y="1261872"/>
            <a:ext cx="39319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937760" y="1261872"/>
            <a:ext cx="54864" cy="530352"/>
          </a:xfrm>
          <a:prstGeom prst="rect">
            <a:avLst/>
          </a:prstGeom>
          <a:solidFill>
            <a:srgbClr val="DC262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412480" y="1335024"/>
            <a:ext cx="384048" cy="182880"/>
          </a:xfrm>
          <a:prstGeom prst="roundRect">
            <a:avLst>
              <a:gd name="adj" fmla="val 20000"/>
            </a:avLst>
          </a:prstGeom>
          <a:solidFill>
            <a:srgbClr val="DC262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412480" y="1335024"/>
            <a:ext cx="3840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5047488" y="1298448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 neighbor on shared cluster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047488" y="1517904"/>
            <a:ext cx="3429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ResourceQuota + LimitRange from day one. Karpenter node isolation via nodeAffinity if needed.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937760" y="1865376"/>
            <a:ext cx="39319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937760" y="1865376"/>
            <a:ext cx="54864" cy="530352"/>
          </a:xfrm>
          <a:prstGeom prst="rect">
            <a:avLst/>
          </a:prstGeom>
          <a:solidFill>
            <a:srgbClr val="D9770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412480" y="1938528"/>
            <a:ext cx="384048" cy="182880"/>
          </a:xfrm>
          <a:prstGeom prst="roundRect">
            <a:avLst>
              <a:gd name="adj" fmla="val 20000"/>
            </a:avLst>
          </a:prstGeom>
          <a:solidFill>
            <a:srgbClr val="D9770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412480" y="1938528"/>
            <a:ext cx="3840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5047488" y="190195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 provisioning latency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047488" y="2121408"/>
            <a:ext cx="3429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Pre-warm RDS pool for common instance sizes. Use RDS Proxy to reduce cold-connection overhead.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4937760" y="2468880"/>
            <a:ext cx="39319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937760" y="2468880"/>
            <a:ext cx="54864" cy="530352"/>
          </a:xfrm>
          <a:prstGeom prst="rect">
            <a:avLst/>
          </a:prstGeom>
          <a:solidFill>
            <a:srgbClr val="DC262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412480" y="2542032"/>
            <a:ext cx="384048" cy="182880"/>
          </a:xfrm>
          <a:prstGeom prst="roundRect">
            <a:avLst>
              <a:gd name="adj" fmla="val 20000"/>
            </a:avLst>
          </a:prstGeom>
          <a:solidFill>
            <a:srgbClr val="DC262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412480" y="2542032"/>
            <a:ext cx="3840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5047488" y="2505456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 chart upgrade breaks tenants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5047488" y="2724912"/>
            <a:ext cx="3429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Canary upgrades: apply to 10% of tenants first. ArgoCD sync waves. 90-day rollback window in Git.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4937760" y="3072384"/>
            <a:ext cx="39319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937760" y="3072384"/>
            <a:ext cx="54864" cy="530352"/>
          </a:xfrm>
          <a:prstGeom prst="rect">
            <a:avLst/>
          </a:prstGeom>
          <a:solidFill>
            <a:srgbClr val="D9770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412480" y="3145536"/>
            <a:ext cx="384048" cy="182880"/>
          </a:xfrm>
          <a:prstGeom prst="roundRect">
            <a:avLst>
              <a:gd name="adj" fmla="val 20000"/>
            </a:avLst>
          </a:prstGeom>
          <a:solidFill>
            <a:srgbClr val="D9770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412480" y="3145536"/>
            <a:ext cx="3840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5047488" y="3108960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 metadata DB as SPOF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5047488" y="3328416"/>
            <a:ext cx="3429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Multi-AZ RDS for Production+ plans. Automated daily snapshots. RDS Proxy for connection pooling.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4937760" y="3675888"/>
            <a:ext cx="39319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937760" y="3675888"/>
            <a:ext cx="54864" cy="530352"/>
          </a:xfrm>
          <a:prstGeom prst="rect">
            <a:avLst/>
          </a:prstGeom>
          <a:solidFill>
            <a:srgbClr val="05966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412480" y="3749040"/>
            <a:ext cx="384048" cy="182880"/>
          </a:xfrm>
          <a:prstGeom prst="roundRect">
            <a:avLst>
              <a:gd name="adj" fmla="val 20000"/>
            </a:avLst>
          </a:prstGeom>
          <a:solidFill>
            <a:srgbClr val="05966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412480" y="3749040"/>
            <a:ext cx="3840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5047488" y="3712464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API rate limiting at scale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5047488" y="3931920"/>
            <a:ext cx="3429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reconciliation with exponential backoff. Batch provisioning jobs. Watch vs poll for state.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4937760" y="4279392"/>
            <a:ext cx="39319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937760" y="4279392"/>
            <a:ext cx="54864" cy="530352"/>
          </a:xfrm>
          <a:prstGeom prst="rect">
            <a:avLst/>
          </a:prstGeom>
          <a:solidFill>
            <a:srgbClr val="D9770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412480" y="4352544"/>
            <a:ext cx="384048" cy="182880"/>
          </a:xfrm>
          <a:prstGeom prst="roundRect">
            <a:avLst>
              <a:gd name="adj" fmla="val 20000"/>
            </a:avLst>
          </a:prstGeom>
          <a:solidFill>
            <a:srgbClr val="D9770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412480" y="4352544"/>
            <a:ext cx="3840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00" dirty="0"/>
          </a:p>
        </p:txBody>
      </p:sp>
      <p:sp>
        <p:nvSpPr>
          <p:cNvPr id="71" name="Text 69"/>
          <p:cNvSpPr/>
          <p:nvPr/>
        </p:nvSpPr>
        <p:spPr>
          <a:xfrm>
            <a:off x="5047488" y="4315968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/ SOC 2 requirements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5047488" y="4535424"/>
            <a:ext cx="3429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 API in Phase 3. CloudTrail for AWS actions. OPA/Gatekeeper for policy enforcement.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Milestones &amp; Success Metrics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know we are on track — technical and business checkpoints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74320" y="969264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Milestones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1444752"/>
            <a:ext cx="8229600" cy="54864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389888"/>
            <a:ext cx="182880" cy="18288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591056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0" y="1792224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 + Helm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1645920" y="1389888"/>
            <a:ext cx="182880" cy="18288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54480" y="1591056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280160" y="9144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tenant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2926080" y="1389888"/>
            <a:ext cx="182880" cy="182880"/>
          </a:xfrm>
          <a:prstGeom prst="ellipse">
            <a:avLst/>
          </a:prstGeom>
          <a:solidFill>
            <a:srgbClr val="1B4F8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34640" y="1591056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2560320" y="1792224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(3 envs)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4206240" y="1389888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0" y="1591056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3840480" y="9144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+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5486400" y="1389888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94960" y="1591056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120640" y="1792224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paying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6766560" y="1389888"/>
            <a:ext cx="182880" cy="18288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75120" y="1591056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M9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6400800" y="9144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customers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SSO / Audit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8046720" y="1389888"/>
            <a:ext cx="182880" cy="18288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55280" y="1591056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M9+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7680960" y="1792224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2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274320" y="239572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Metrics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274320" y="2688336"/>
            <a:ext cx="2788920" cy="224942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2688336"/>
            <a:ext cx="2788920" cy="329184"/>
          </a:xfrm>
          <a:prstGeom prst="rect">
            <a:avLst/>
          </a:prstGeom>
          <a:solidFill>
            <a:srgbClr val="1B4F8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4048" y="27157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Operational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84048" y="3035808"/>
            <a:ext cx="1170432" cy="182880"/>
          </a:xfrm>
          <a:prstGeom prst="rect">
            <a:avLst/>
          </a:prstGeom>
          <a:solidFill>
            <a:srgbClr val="F1F5F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645920" y="3035808"/>
            <a:ext cx="640080" cy="182880"/>
          </a:xfrm>
          <a:prstGeom prst="rect">
            <a:avLst/>
          </a:prstGeom>
          <a:solidFill>
            <a:srgbClr val="DBEAF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359152" y="3035808"/>
            <a:ext cx="603504" cy="182880"/>
          </a:xfrm>
          <a:prstGeom prst="rect">
            <a:avLst/>
          </a:prstGeom>
          <a:solidFill>
            <a:srgbClr val="D1FAE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84048" y="3035808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1645920" y="303580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2359152" y="3035808"/>
            <a:ext cx="603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365760" y="3236976"/>
            <a:ext cx="2596896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84048" y="3255264"/>
            <a:ext cx="11704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Provisioning time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1645920" y="3255264"/>
            <a:ext cx="640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3 minutes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2359152" y="3255264"/>
            <a:ext cx="60350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90 seconds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365760" y="3749040"/>
            <a:ext cx="2596896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84048" y="3767328"/>
            <a:ext cx="11704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uptime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1645920" y="3767328"/>
            <a:ext cx="640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99.5% SLA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2359152" y="3767328"/>
            <a:ext cx="60350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99.9% SLA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365760" y="4261104"/>
            <a:ext cx="2596896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84048" y="4279392"/>
            <a:ext cx="11704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 zero-downtime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1645920" y="4279392"/>
            <a:ext cx="640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of tenants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2359152" y="4279392"/>
            <a:ext cx="60350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 min per tenant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3182112" y="2688336"/>
            <a:ext cx="2788920" cy="224942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8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3182112" y="2688336"/>
            <a:ext cx="2788920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291840" y="27157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Customer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3291840" y="3035808"/>
            <a:ext cx="1170432" cy="182880"/>
          </a:xfrm>
          <a:prstGeom prst="rect">
            <a:avLst/>
          </a:prstGeom>
          <a:solidFill>
            <a:srgbClr val="F1F5F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553712" y="3035808"/>
            <a:ext cx="640080" cy="182880"/>
          </a:xfrm>
          <a:prstGeom prst="rect">
            <a:avLst/>
          </a:prstGeom>
          <a:solidFill>
            <a:srgbClr val="DBEAF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266944" y="3035808"/>
            <a:ext cx="603504" cy="182880"/>
          </a:xfrm>
          <a:prstGeom prst="rect">
            <a:avLst/>
          </a:prstGeom>
          <a:solidFill>
            <a:srgbClr val="D1FAE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291840" y="3035808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4553712" y="303580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5266944" y="3035808"/>
            <a:ext cx="603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3273552" y="3236976"/>
            <a:ext cx="2596896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291840" y="3255264"/>
            <a:ext cx="11704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Time-to-first-DAG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4553712" y="3255264"/>
            <a:ext cx="640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10 minutes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5266944" y="3255264"/>
            <a:ext cx="60350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 minutes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3273552" y="3749040"/>
            <a:ext cx="2596896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291840" y="3767328"/>
            <a:ext cx="11704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tickets / tenant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4553712" y="3767328"/>
            <a:ext cx="640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 / month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5266944" y="3767328"/>
            <a:ext cx="60350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0.5 / month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3273552" y="4261104"/>
            <a:ext cx="2596896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291840" y="4279392"/>
            <a:ext cx="11704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NPS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4553712" y="4279392"/>
            <a:ext cx="640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40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5266944" y="4279392"/>
            <a:ext cx="60350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60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6089904" y="2688336"/>
            <a:ext cx="2788920" cy="224942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8000"/>
              </a:srgbClr>
            </a:outerShdw>
          </a:effectLst>
        </p:spPr>
      </p:sp>
      <p:sp>
        <p:nvSpPr>
          <p:cNvPr id="72" name="Shape 70"/>
          <p:cNvSpPr/>
          <p:nvPr/>
        </p:nvSpPr>
        <p:spPr>
          <a:xfrm>
            <a:off x="6089904" y="2688336"/>
            <a:ext cx="2788920" cy="329184"/>
          </a:xfrm>
          <a:prstGeom prst="rect">
            <a:avLst/>
          </a:prstGeom>
          <a:solidFill>
            <a:srgbClr val="05966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199632" y="27157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6199632" y="3035808"/>
            <a:ext cx="1170432" cy="182880"/>
          </a:xfrm>
          <a:prstGeom prst="rect">
            <a:avLst/>
          </a:prstGeom>
          <a:solidFill>
            <a:srgbClr val="F1F5F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7461504" y="3035808"/>
            <a:ext cx="640080" cy="182880"/>
          </a:xfrm>
          <a:prstGeom prst="rect">
            <a:avLst/>
          </a:prstGeom>
          <a:solidFill>
            <a:srgbClr val="DBEAF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8174736" y="3035808"/>
            <a:ext cx="603504" cy="182880"/>
          </a:xfrm>
          <a:prstGeom prst="rect">
            <a:avLst/>
          </a:prstGeom>
          <a:solidFill>
            <a:srgbClr val="D1FAE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199632" y="3035808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700" dirty="0"/>
          </a:p>
        </p:txBody>
      </p:sp>
      <p:sp>
        <p:nvSpPr>
          <p:cNvPr id="78" name="Text 76"/>
          <p:cNvSpPr/>
          <p:nvPr/>
        </p:nvSpPr>
        <p:spPr>
          <a:xfrm>
            <a:off x="7461504" y="303580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700" dirty="0"/>
          </a:p>
        </p:txBody>
      </p:sp>
      <p:sp>
        <p:nvSpPr>
          <p:cNvPr id="79" name="Text 77"/>
          <p:cNvSpPr/>
          <p:nvPr/>
        </p:nvSpPr>
        <p:spPr>
          <a:xfrm>
            <a:off x="8174736" y="3035808"/>
            <a:ext cx="603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</a:t>
            </a:r>
            <a:endParaRPr lang="en-US" sz="700" dirty="0"/>
          </a:p>
        </p:txBody>
      </p:sp>
      <p:sp>
        <p:nvSpPr>
          <p:cNvPr id="80" name="Shape 78"/>
          <p:cNvSpPr/>
          <p:nvPr/>
        </p:nvSpPr>
        <p:spPr>
          <a:xfrm>
            <a:off x="6181344" y="3236976"/>
            <a:ext cx="2596896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199632" y="3255264"/>
            <a:ext cx="11704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Tenants at Month 6</a:t>
            </a:r>
            <a:endParaRPr lang="en-US" sz="800" dirty="0"/>
          </a:p>
        </p:txBody>
      </p:sp>
      <p:sp>
        <p:nvSpPr>
          <p:cNvPr id="82" name="Text 80"/>
          <p:cNvSpPr/>
          <p:nvPr/>
        </p:nvSpPr>
        <p:spPr>
          <a:xfrm>
            <a:off x="7461504" y="3255264"/>
            <a:ext cx="640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paying</a:t>
            </a:r>
            <a:endParaRPr lang="en-US" sz="800" dirty="0"/>
          </a:p>
        </p:txBody>
      </p:sp>
      <p:sp>
        <p:nvSpPr>
          <p:cNvPr id="83" name="Text 81"/>
          <p:cNvSpPr/>
          <p:nvPr/>
        </p:nvSpPr>
        <p:spPr>
          <a:xfrm>
            <a:off x="8174736" y="3255264"/>
            <a:ext cx="60350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paying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6181344" y="3749040"/>
            <a:ext cx="2596896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199632" y="3767328"/>
            <a:ext cx="11704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</a:t>
            </a:r>
            <a:endParaRPr lang="en-US" sz="800" dirty="0"/>
          </a:p>
        </p:txBody>
      </p:sp>
      <p:sp>
        <p:nvSpPr>
          <p:cNvPr id="86" name="Text 84"/>
          <p:cNvSpPr/>
          <p:nvPr/>
        </p:nvSpPr>
        <p:spPr>
          <a:xfrm>
            <a:off x="7461504" y="3767328"/>
            <a:ext cx="640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50%</a:t>
            </a:r>
            <a:endParaRPr lang="en-US" sz="800" dirty="0"/>
          </a:p>
        </p:txBody>
      </p:sp>
      <p:sp>
        <p:nvSpPr>
          <p:cNvPr id="87" name="Text 85"/>
          <p:cNvSpPr/>
          <p:nvPr/>
        </p:nvSpPr>
        <p:spPr>
          <a:xfrm>
            <a:off x="8174736" y="3767328"/>
            <a:ext cx="60350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70%</a:t>
            </a:r>
            <a:endParaRPr lang="en-US" sz="800" dirty="0"/>
          </a:p>
        </p:txBody>
      </p:sp>
      <p:sp>
        <p:nvSpPr>
          <p:cNvPr id="88" name="Shape 86"/>
          <p:cNvSpPr/>
          <p:nvPr/>
        </p:nvSpPr>
        <p:spPr>
          <a:xfrm>
            <a:off x="6181344" y="4261104"/>
            <a:ext cx="2596896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6199632" y="4279392"/>
            <a:ext cx="11704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churn</a:t>
            </a:r>
            <a:endParaRPr lang="en-US" sz="800" dirty="0"/>
          </a:p>
        </p:txBody>
      </p:sp>
      <p:sp>
        <p:nvSpPr>
          <p:cNvPr id="90" name="Text 88"/>
          <p:cNvSpPr/>
          <p:nvPr/>
        </p:nvSpPr>
        <p:spPr>
          <a:xfrm>
            <a:off x="7461504" y="4279392"/>
            <a:ext cx="640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5%</a:t>
            </a:r>
            <a:endParaRPr lang="en-US" sz="800" dirty="0"/>
          </a:p>
        </p:txBody>
      </p:sp>
      <p:sp>
        <p:nvSpPr>
          <p:cNvPr id="91" name="Text 89"/>
          <p:cNvSpPr/>
          <p:nvPr/>
        </p:nvSpPr>
        <p:spPr>
          <a:xfrm>
            <a:off x="8174736" y="4279392"/>
            <a:ext cx="60350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2%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0A2236">
              <a:alpha val="8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822960"/>
            <a:ext cx="91440" cy="3474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7772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Immediate Next Steps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13232" y="1426464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142646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52144" y="142646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Approve headcount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152144" y="1664208"/>
            <a:ext cx="7589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 Platform Engineers + 2× Backend Engineers to start Phase 1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13232" y="2103120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210312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52144" y="210312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AWS account setup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152144" y="2340864"/>
            <a:ext cx="7589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 sandbox AWS account, enable EKS, set up VPC and IAM baseline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13232" y="2779776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277977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52144" y="2779776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Helm chart spike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152144" y="3017520"/>
            <a:ext cx="7589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official apache-airflow chart in sandbox namespace, validate Karpenter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13232" y="3456432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3232" y="345643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52144" y="3456432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Provisioning API design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152144" y="3694176"/>
            <a:ext cx="7589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OpenAPI spec for /environments CRUD — align on async job model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13232" y="4133088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3232" y="413308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52144" y="4133088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Sprint 1 kickoff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152144" y="4370832"/>
            <a:ext cx="7589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2-week sprints, Week 1 goal: RDS + namespace provisioned from API call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0A152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6634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Apache Airflow Service  ·  Technical Roadmap  ·  Confidential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Managed Airflow Service — Technical Roadmap</dc:title>
  <dc:subject>PptxGenJS Presentation</dc:subject>
  <dc:creator>Engineering Leadership</dc:creator>
  <cp:lastModifiedBy>Engineering Leadership</cp:lastModifiedBy>
  <cp:revision>1</cp:revision>
  <dcterms:created xsi:type="dcterms:W3CDTF">2026-03-21T19:40:40Z</dcterms:created>
  <dcterms:modified xsi:type="dcterms:W3CDTF">2026-03-21T19:40:40Z</dcterms:modified>
</cp:coreProperties>
</file>